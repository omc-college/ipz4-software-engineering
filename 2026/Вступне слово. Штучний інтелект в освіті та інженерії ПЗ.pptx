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11341510" cy="146304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«</a:t>
            </a:r>
            <a:r>
              <a:rPr lang="ru-RU" b="1" dirty="0" err="1"/>
              <a:t>Штучний</a:t>
            </a:r>
            <a:r>
              <a:rPr lang="ru-RU" b="1" dirty="0"/>
              <a:t> </a:t>
            </a:r>
            <a:r>
              <a:rPr lang="ru-RU" b="1" dirty="0" err="1"/>
              <a:t>інтелект</a:t>
            </a:r>
            <a:r>
              <a:rPr lang="ru-RU" b="1" dirty="0"/>
              <a:t> в </a:t>
            </a:r>
            <a:r>
              <a:rPr lang="ru-RU" b="1" dirty="0" err="1"/>
              <a:t>освіті</a:t>
            </a:r>
            <a:r>
              <a:rPr lang="ru-RU" b="1" dirty="0"/>
              <a:t> та </a:t>
            </a:r>
            <a:r>
              <a:rPr lang="ru-RU" b="1" dirty="0" err="1"/>
              <a:t>інженерії</a:t>
            </a:r>
            <a:r>
              <a:rPr lang="ru-RU" b="1" dirty="0"/>
              <a:t> ПЗ: Правила, </a:t>
            </a:r>
            <a:r>
              <a:rPr lang="ru-RU" b="1" dirty="0" err="1"/>
              <a:t>Стандарти</a:t>
            </a:r>
            <a:r>
              <a:rPr lang="ru-RU" b="1" dirty="0"/>
              <a:t> та </a:t>
            </a:r>
            <a:r>
              <a:rPr lang="ru-RU" b="1" dirty="0" err="1"/>
              <a:t>Трансформація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24414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Як ми </a:t>
            </a:r>
            <a:r>
              <a:rPr lang="ru-RU" b="1" dirty="0" err="1"/>
              <a:t>використовуємо</a:t>
            </a:r>
            <a:r>
              <a:rPr lang="ru-RU" b="1" dirty="0"/>
              <a:t> </a:t>
            </a:r>
            <a:r>
              <a:rPr lang="uk-UA" b="1" dirty="0"/>
              <a:t>ШІ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uk-UA" b="1" dirty="0"/>
              <a:t>Заборона на повну генерацію робіт:</a:t>
            </a:r>
            <a:r>
              <a:rPr lang="uk-UA" dirty="0"/>
              <a:t> ШІ не повинен виконувати завдання замість здобувача освіти (написання курсових, дипломних робіт, есе, розв'язання підсумкових задач). Інструменти ШІ дозволені лише як асистент (пошук ідей, аналіз структури, виправлення стилістики).</a:t>
            </a:r>
          </a:p>
          <a:p>
            <a:pPr lvl="0"/>
            <a:r>
              <a:rPr lang="uk-UA" b="1" dirty="0"/>
              <a:t>Обов'язкове декларування (AI </a:t>
            </a:r>
            <a:r>
              <a:rPr lang="uk-UA" b="1" dirty="0" err="1"/>
              <a:t>Disclosure</a:t>
            </a:r>
            <a:r>
              <a:rPr lang="uk-UA" b="1" dirty="0"/>
              <a:t>):</a:t>
            </a:r>
            <a:r>
              <a:rPr lang="uk-UA" dirty="0"/>
              <a:t> студент зобов'язаний зазначати факт використання ШІ (із вказівкою </a:t>
            </a:r>
            <a:r>
              <a:rPr lang="uk-UA" dirty="0" err="1"/>
              <a:t>промптів</a:t>
            </a:r>
            <a:r>
              <a:rPr lang="uk-UA" dirty="0"/>
              <a:t> та назви сервісу) у списках джерел або спеціальних посиланнях/</a:t>
            </a:r>
            <a:r>
              <a:rPr lang="uk-UA" dirty="0" err="1"/>
              <a:t>дисклеймерах</a:t>
            </a:r>
            <a:r>
              <a:rPr lang="uk-UA" dirty="0"/>
              <a:t>.</a:t>
            </a:r>
          </a:p>
          <a:p>
            <a:pPr lvl="0"/>
            <a:r>
              <a:rPr lang="uk-UA" b="1" dirty="0"/>
              <a:t>Критична перевірка фактажу (Проблема «галюцинацій» ШІ):</a:t>
            </a:r>
            <a:r>
              <a:rPr lang="uk-UA" dirty="0"/>
              <a:t> пряма заборона на використання відповідей ШІ як першоджерела без верифікації за підручниками, ДСТУ та офіційними документами.</a:t>
            </a:r>
          </a:p>
          <a:p>
            <a:pPr lvl="0"/>
            <a:r>
              <a:rPr lang="uk-UA" b="1" dirty="0"/>
              <a:t>Кодекс академічної доброчесності – </a:t>
            </a:r>
            <a:r>
              <a:rPr lang="uk-UA" dirty="0"/>
              <a:t>використання Ш без декларування розглядається як плагіат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7336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1" dirty="0"/>
              <a:t>Навички, які будуть найбільше затребувані до 2030 року</a:t>
            </a:r>
            <a:endParaRPr lang="uk-UA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7" t="10607" r="47350" b="19613"/>
          <a:stretch/>
        </p:blipFill>
        <p:spPr bwMode="auto">
          <a:xfrm>
            <a:off x="2320413" y="1877960"/>
            <a:ext cx="6037006" cy="48374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876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/>
          <a:srcRect l="61505" t="15138" r="17713" b="38568"/>
          <a:stretch/>
        </p:blipFill>
        <p:spPr bwMode="auto">
          <a:xfrm>
            <a:off x="3209925" y="504825"/>
            <a:ext cx="4800600" cy="60959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2952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Цифровий</a:t>
            </a:r>
            <a:r>
              <a:rPr lang="ru-RU" dirty="0"/>
              <a:t> </a:t>
            </a:r>
            <a:r>
              <a:rPr lang="ru-RU" dirty="0" err="1"/>
              <a:t>світ</a:t>
            </a:r>
            <a:r>
              <a:rPr lang="ru-RU" dirty="0"/>
              <a:t> 2025/2026 та </a:t>
            </a:r>
            <a:r>
              <a:rPr lang="ru-RU" dirty="0" err="1"/>
              <a:t>глобальні</a:t>
            </a:r>
            <a:r>
              <a:rPr lang="ru-RU" dirty="0"/>
              <a:t> </a:t>
            </a:r>
            <a:r>
              <a:rPr lang="ru-RU" dirty="0" err="1"/>
              <a:t>тренди</a:t>
            </a:r>
            <a:r>
              <a:rPr lang="ru-RU" dirty="0"/>
              <a:t> ШІ</a:t>
            </a:r>
            <a:endParaRPr lang="uk-U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120161"/>
            <a:ext cx="9577197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Цифровий масштаб: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Понад 5.56 млрд користувачів інтернету у світі (68.2% населення).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Стрімкий росту ШІ: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Використання генеративних інструментів зросло на </a:t>
            </a: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+112%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за останній рік.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Топ-сервіси ШІ за відвідуваністю:</a:t>
            </a:r>
            <a:endParaRPr kumimoji="0" lang="uk-UA" altLang="uk-UA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ChatGPT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(47.7 млрд)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DeepSeek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(16.6 млрд)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Google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Gemini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(8.6 млрд)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Microsoft </a:t>
            </a: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Copilot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(5.9 млрд)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Perplexity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(5.2 млрд) </a:t>
            </a:r>
          </a:p>
        </p:txBody>
      </p:sp>
    </p:spTree>
    <p:extLst>
      <p:ext uri="{BB962C8B-B14F-4D97-AF65-F5344CB8AC3E}">
        <p14:creationId xmlns:p14="http://schemas.microsoft.com/office/powerpoint/2010/main" val="403232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977247" cy="1499616"/>
          </a:xfrm>
        </p:spPr>
        <p:txBody>
          <a:bodyPr/>
          <a:lstStyle/>
          <a:p>
            <a:pPr algn="ctr"/>
            <a:r>
              <a:rPr lang="uk-UA" dirty="0"/>
              <a:t>Трансформація процесів </a:t>
            </a:r>
            <a:r>
              <a:rPr lang="uk-UA" dirty="0" smtClean="0"/>
              <a:t>розробки</a:t>
            </a:r>
            <a:endParaRPr lang="uk-UA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2343151"/>
            <a:ext cx="101060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09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05" b="43364"/>
          <a:stretch/>
        </p:blipFill>
        <p:spPr bwMode="auto">
          <a:xfrm>
            <a:off x="1023938" y="2309601"/>
            <a:ext cx="9720262" cy="26814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41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9" t="6545" r="31654" b="17583"/>
          <a:stretch/>
        </p:blipFill>
        <p:spPr bwMode="auto">
          <a:xfrm>
            <a:off x="1140542" y="531710"/>
            <a:ext cx="9950245" cy="58100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68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6" b="11445"/>
          <a:stretch/>
        </p:blipFill>
        <p:spPr bwMode="auto">
          <a:xfrm>
            <a:off x="570272" y="806246"/>
            <a:ext cx="10943302" cy="55847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91796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3625" y="349242"/>
            <a:ext cx="9720072" cy="466836"/>
          </a:xfrm>
        </p:spPr>
        <p:txBody>
          <a:bodyPr>
            <a:normAutofit/>
          </a:bodyPr>
          <a:lstStyle/>
          <a:p>
            <a:pPr algn="ctr"/>
            <a:r>
              <a:rPr lang="uk-UA" sz="2400" b="1" dirty="0"/>
              <a:t>Стандарти щодо використання ШІ</a:t>
            </a:r>
            <a:endParaRPr lang="uk-UA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8929" y="894735"/>
            <a:ext cx="11287432" cy="5683045"/>
          </a:xfrm>
        </p:spPr>
        <p:txBody>
          <a:bodyPr>
            <a:normAutofit fontScale="92500" lnSpcReduction="20000"/>
          </a:bodyPr>
          <a:lstStyle/>
          <a:p>
            <a:r>
              <a:rPr lang="uk-UA" b="1" dirty="0"/>
              <a:t>ISO/IEC TR 24030:2024 </a:t>
            </a:r>
            <a:r>
              <a:rPr lang="uk-UA" b="1" dirty="0" err="1"/>
              <a:t>Information</a:t>
            </a:r>
            <a:r>
              <a:rPr lang="uk-UA" b="1" dirty="0"/>
              <a:t> </a:t>
            </a:r>
            <a:r>
              <a:rPr lang="uk-UA" b="1" dirty="0" err="1"/>
              <a:t>technology</a:t>
            </a:r>
            <a:r>
              <a:rPr lang="uk-UA" b="1" dirty="0"/>
              <a:t> — </a:t>
            </a:r>
            <a:r>
              <a:rPr lang="uk-UA" b="1" dirty="0" err="1"/>
              <a:t>Artificial</a:t>
            </a:r>
            <a:r>
              <a:rPr lang="uk-UA" b="1" dirty="0"/>
              <a:t> </a:t>
            </a:r>
            <a:r>
              <a:rPr lang="uk-UA" b="1" dirty="0" err="1"/>
              <a:t>intelligence</a:t>
            </a:r>
            <a:r>
              <a:rPr lang="uk-UA" b="1" dirty="0"/>
              <a:t> (AI) — </a:t>
            </a:r>
            <a:r>
              <a:rPr lang="uk-UA" b="1" dirty="0" err="1"/>
              <a:t>Use</a:t>
            </a:r>
            <a:r>
              <a:rPr lang="uk-UA" b="1" dirty="0"/>
              <a:t> </a:t>
            </a:r>
            <a:r>
              <a:rPr lang="uk-UA" b="1" dirty="0" err="1"/>
              <a:t>cases</a:t>
            </a:r>
            <a:r>
              <a:rPr lang="uk-UA" b="1" dirty="0"/>
              <a:t> — </a:t>
            </a:r>
            <a:r>
              <a:rPr lang="uk-UA" dirty="0"/>
              <a:t>це міжнародний технічний звіт, що містить збірку типових прикладів використання (</a:t>
            </a:r>
            <a:r>
              <a:rPr lang="uk-UA" dirty="0" err="1"/>
              <a:t>use</a:t>
            </a:r>
            <a:r>
              <a:rPr lang="uk-UA" dirty="0"/>
              <a:t>  </a:t>
            </a:r>
            <a:r>
              <a:rPr lang="uk-UA" dirty="0" err="1"/>
              <a:t>cases</a:t>
            </a:r>
            <a:r>
              <a:rPr lang="uk-UA" dirty="0"/>
              <a:t>) та застосувань штучного інтелекту (ШІ) в різних галузях</a:t>
            </a:r>
            <a:endParaRPr lang="uk-UA" b="1" dirty="0"/>
          </a:p>
          <a:p>
            <a:r>
              <a:rPr lang="uk-UA" b="1" dirty="0"/>
              <a:t>ISO/IEC 5339:2024 «Інформаційні технології. Штучний інтелект. Керівництво для застосування штучного інтелекту»</a:t>
            </a:r>
            <a:r>
              <a:rPr lang="uk-UA" dirty="0"/>
              <a:t> стандарт надає вказівки щодо програм штучного інтелекту, наголошуючи на залученні зацікавлених сторін і життєвому циклі програми. Він спрямований на покращення спілкування та сприйняття між зацікавленими сторонами, пропонуючи структуру, яка включає створення, використання та перспективи впливу систем штучного інтелекту; </a:t>
            </a:r>
          </a:p>
          <a:p>
            <a:r>
              <a:rPr lang="uk-UA" b="1" dirty="0"/>
              <a:t>ISO/IEC TS 8200:2024 «Інформаційні технології. Штучний інтелект. Керованість автоматизованих систем штучного інтелекту»</a:t>
            </a:r>
            <a:r>
              <a:rPr lang="uk-UA" dirty="0"/>
              <a:t> стандарт визначає базову структуру з принципами, характеристиками та підходами до реалізації та покращення керованості систем автоматизованого штучного інтелекту. Цей документ стосується всіх типів організацій, які розробляють і використовують системи штучного інтелекту протягом усього життєвого циклу.</a:t>
            </a:r>
            <a:endParaRPr lang="uk-UA" b="1" dirty="0"/>
          </a:p>
          <a:p>
            <a:r>
              <a:rPr lang="uk-UA" b="1" dirty="0"/>
              <a:t>ISO/IEC 23894:2023 </a:t>
            </a:r>
            <a:r>
              <a:rPr lang="uk-UA" dirty="0" err="1"/>
              <a:t>Information</a:t>
            </a:r>
            <a:r>
              <a:rPr lang="uk-UA" dirty="0"/>
              <a:t> </a:t>
            </a:r>
            <a:r>
              <a:rPr lang="uk-UA" dirty="0" err="1"/>
              <a:t>technology</a:t>
            </a:r>
            <a:r>
              <a:rPr lang="uk-UA" dirty="0"/>
              <a:t> — </a:t>
            </a:r>
            <a:r>
              <a:rPr lang="uk-UA" dirty="0" err="1"/>
              <a:t>Artificial</a:t>
            </a:r>
            <a:r>
              <a:rPr lang="uk-UA" dirty="0"/>
              <a:t> </a:t>
            </a:r>
            <a:r>
              <a:rPr lang="uk-UA" dirty="0" err="1"/>
              <a:t>intelligence</a:t>
            </a:r>
            <a:r>
              <a:rPr lang="uk-UA" dirty="0"/>
              <a:t> — </a:t>
            </a:r>
            <a:r>
              <a:rPr lang="uk-UA" dirty="0" err="1"/>
              <a:t>Guidance</a:t>
            </a:r>
            <a:r>
              <a:rPr lang="uk-UA" dirty="0"/>
              <a:t> </a:t>
            </a:r>
            <a:r>
              <a:rPr lang="uk-UA" dirty="0" err="1"/>
              <a:t>on</a:t>
            </a:r>
            <a:r>
              <a:rPr lang="uk-UA" dirty="0"/>
              <a:t> </a:t>
            </a:r>
            <a:r>
              <a:rPr lang="uk-UA" dirty="0" err="1"/>
              <a:t>risk</a:t>
            </a:r>
            <a:r>
              <a:rPr lang="uk-UA" dirty="0"/>
              <a:t> </a:t>
            </a:r>
            <a:r>
              <a:rPr lang="uk-UA" dirty="0" err="1"/>
              <a:t>management</a:t>
            </a:r>
            <a:r>
              <a:rPr lang="uk-UA" dirty="0"/>
              <a:t> </a:t>
            </a:r>
            <a:r>
              <a:rPr lang="uk-UA" b="1" dirty="0"/>
              <a:t> — </a:t>
            </a:r>
            <a:r>
              <a:rPr lang="uk-UA" dirty="0"/>
              <a:t>це міжнародний стандарт, що містить керівні вказівки щодо</a:t>
            </a:r>
            <a:r>
              <a:rPr lang="uk-UA" b="1" dirty="0"/>
              <a:t> </a:t>
            </a:r>
            <a:r>
              <a:rPr lang="uk-UA" dirty="0"/>
              <a:t>управління ризиками для систем штучного інтелекту (ШІ)</a:t>
            </a:r>
            <a:r>
              <a:rPr lang="uk-UA" b="1" dirty="0"/>
              <a:t>.</a:t>
            </a:r>
          </a:p>
          <a:p>
            <a:r>
              <a:rPr lang="uk-UA" b="1" dirty="0"/>
              <a:t>EU AI </a:t>
            </a:r>
            <a:r>
              <a:rPr lang="uk-UA" b="1" dirty="0" err="1"/>
              <a:t>Act</a:t>
            </a:r>
            <a:r>
              <a:rPr lang="uk-UA" dirty="0"/>
              <a:t> (Акт про штучний інтелект) — це перший у світі комплексний закон Європейського Союзу, який регулює використання та створення систем штучного інтелекту залежно від рівня їхнього потенційного ризику для людей та суспільства. </a:t>
            </a:r>
            <a:endParaRPr lang="uk-UA" b="1" dirty="0"/>
          </a:p>
          <a:p>
            <a:r>
              <a:rPr lang="uk-UA" dirty="0"/>
              <a:t> </a:t>
            </a:r>
            <a:endParaRPr lang="uk-UA" b="1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5996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навички</a:t>
            </a:r>
            <a:r>
              <a:rPr lang="ru-RU" dirty="0"/>
              <a:t> </a:t>
            </a:r>
            <a:r>
              <a:rPr lang="ru-RU" dirty="0" err="1"/>
              <a:t>майбутнього</a:t>
            </a:r>
            <a:r>
              <a:rPr lang="ru-RU" dirty="0"/>
              <a:t> (До 2030 року)</a:t>
            </a:r>
            <a:endParaRPr lang="uk-U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120161"/>
            <a:ext cx="9811019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Критичне мислене та верифікація: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Здатність аналізувати </a:t>
            </a: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згенеровані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дані та знаходити «галюцинації» ШІ.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Промпт</a:t>
            </a: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-інженерія та постановка задач: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Вміння чітко формулювати технічні вимоги для ШІ-інструментів.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Оцінка ризиків та етика: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Застосування норм безпеки, захисту даних та стандартизації (ISO/IEC).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Рецензування коду (</a:t>
            </a:r>
            <a:r>
              <a:rPr kumimoji="0" lang="uk-UA" altLang="uk-UA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Code</a:t>
            </a: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uk-UA" altLang="uk-UA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Review</a:t>
            </a:r>
            <a:r>
              <a:rPr kumimoji="0" lang="uk-UA" altLang="uk-U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Перевірка алгоритмів на безпеку, </a:t>
            </a:r>
            <a:r>
              <a:rPr kumimoji="0" lang="uk-UA" altLang="uk-UA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цикломатичну</a:t>
            </a:r>
            <a:r>
              <a:rPr kumimoji="0" lang="uk-UA" altLang="uk-UA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складність та відповідність архітектурі</a:t>
            </a: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4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</TotalTime>
  <Words>507</Words>
  <Application>Microsoft Office PowerPoint</Application>
  <PresentationFormat>Широкоэкранный</PresentationFormat>
  <Paragraphs>29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Google Sans Text</vt:lpstr>
      <vt:lpstr>Tw Cen MT</vt:lpstr>
      <vt:lpstr>Tw Cen MT Condensed</vt:lpstr>
      <vt:lpstr>Wingdings 3</vt:lpstr>
      <vt:lpstr>Интеграл</vt:lpstr>
      <vt:lpstr>«Штучний інтелект в освіті та інженерії ПЗ: Правила, Стандарти та Трансформація</vt:lpstr>
      <vt:lpstr>Як ми використовуємо ШІ</vt:lpstr>
      <vt:lpstr>Навички, які будуть найбільше затребувані до 2030 року</vt:lpstr>
      <vt:lpstr>Презентация PowerPoint</vt:lpstr>
      <vt:lpstr>Цифровий світ 2025/2026 та глобальні тренди ШІ</vt:lpstr>
      <vt:lpstr>Трансформація процесів розробки</vt:lpstr>
      <vt:lpstr>Презентация PowerPoint</vt:lpstr>
      <vt:lpstr>Презентация PowerPoint</vt:lpstr>
      <vt:lpstr>Презентация PowerPoint</vt:lpstr>
      <vt:lpstr>Стандарти щодо використання ШІ</vt:lpstr>
      <vt:lpstr>Ключові навички майбутнього (До 2030 року)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«Штучний інтелект в освіті та інженерії ПЗ: Правила, Стандарти та Трансформація</dc:title>
  <dc:creator>Tanya</dc:creator>
  <cp:lastModifiedBy>Tanya</cp:lastModifiedBy>
  <cp:revision>4</cp:revision>
  <dcterms:created xsi:type="dcterms:W3CDTF">2026-08-26T15:25:41Z</dcterms:created>
  <dcterms:modified xsi:type="dcterms:W3CDTF">2026-08-26T15:52:12Z</dcterms:modified>
</cp:coreProperties>
</file>