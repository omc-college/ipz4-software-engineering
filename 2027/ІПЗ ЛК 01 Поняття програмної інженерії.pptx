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embeddedFontLst>
    <p:embeddedFont>
      <p:font typeface="Bricolage Grotesque SemiBold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Plus Jakarta Sans" panose="020B060402020202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25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8" Type="http://schemas.openxmlformats.org/officeDocument/2006/relationships/image" Target="../media/image-5-2.svg"/><Relationship Id="rId3" Type="http://schemas.openxmlformats.org/officeDocument/2006/relationships/image" Target="../media/image9.png"/><Relationship Id="rId7" Type="http://schemas.openxmlformats.org/officeDocument/2006/relationships/image" Target="../media/image-5-2.sv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-5-16.svg"/><Relationship Id="rId20" Type="http://schemas.openxmlformats.org/officeDocument/2006/relationships/image" Target="../media/image-5-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4.sv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openxmlformats.org/officeDocument/2006/relationships/image" Target="../media/image-5-2.svg"/><Relationship Id="rId19" Type="http://schemas.openxmlformats.org/officeDocument/2006/relationships/image" Target="../media/image14.png"/><Relationship Id="rId4" Type="http://schemas.openxmlformats.org/officeDocument/2006/relationships/image" Target="../media/image-5-2.svg"/><Relationship Id="rId9" Type="http://schemas.openxmlformats.org/officeDocument/2006/relationships/image" Target="../media/image-5-8.svg"/><Relationship Id="rId14" Type="http://schemas.openxmlformats.org/officeDocument/2006/relationships/image" Target="../media/image-5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6.svg"/><Relationship Id="rId13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-7-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4.svg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image" Target="../media/image-7-8.svg"/><Relationship Id="rId4" Type="http://schemas.openxmlformats.org/officeDocument/2006/relationships/image" Target="../media/image-7-2.svg"/><Relationship Id="rId9" Type="http://schemas.openxmlformats.org/officeDocument/2006/relationships/image" Target="../media/image20.png"/><Relationship Id="rId14" Type="http://schemas.openxmlformats.org/officeDocument/2006/relationships/image" Target="../media/image-7-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2.svg"/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2.svg"/><Relationship Id="rId5" Type="http://schemas.openxmlformats.org/officeDocument/2006/relationships/image" Target="../media/image-8-2.svg"/><Relationship Id="rId4" Type="http://schemas.openxmlformats.org/officeDocument/2006/relationships/image" Target="../media/image-8-2.svg"/><Relationship Id="rId9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6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-10-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4.sv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-10-8.svg"/><Relationship Id="rId4" Type="http://schemas.openxmlformats.org/officeDocument/2006/relationships/image" Target="../media/image-10-2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2052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Програмна інженерія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71490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Лекція 1: Поняття програмної інженерії. Ядро знань SWEBOK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4550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Термін «програмна інженерія» вперше з'явився у </a:t>
            </a: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1968 р.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40 років зміст поняття еволюціонував: від мистецтва одинаків — через теоретичну науку — до повноцінної </a:t>
            </a:r>
            <a:r>
              <a:rPr lang="en-US" sz="14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інженерної діяльності</a:t>
            </a: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85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Визначення та принципи інженерної діяльності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90613"/>
            <a:ext cx="6908330" cy="391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7456" y="1749227"/>
            <a:ext cx="3239014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Програмна інженерія — це застосування системного, вимірюваного підходу до розробки, використання та супроводу програмного забезпечення.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022826" y="1589584"/>
            <a:ext cx="25399" cy="1761430"/>
          </a:xfrm>
          <a:prstGeom prst="roundRect">
            <a:avLst>
              <a:gd name="adj" fmla="val 50001"/>
            </a:avLst>
          </a:prstGeom>
          <a:solidFill>
            <a:srgbClr val="E7BF6A"/>
          </a:solidFill>
          <a:ln/>
        </p:spPr>
      </p:sp>
      <p:sp>
        <p:nvSpPr>
          <p:cNvPr id="6" name="Text 3"/>
          <p:cNvSpPr/>
          <p:nvPr/>
        </p:nvSpPr>
        <p:spPr>
          <a:xfrm>
            <a:off x="8022826" y="3550543"/>
            <a:ext cx="3513645" cy="259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Інженерна галузь ґрунтується на принципах: </a:t>
            </a: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ефективність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практичність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фундаментальність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успадкованість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відчутність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 </a:t>
            </a:r>
            <a:r>
              <a:rPr lang="en-US" sz="14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супроводження</a:t>
            </a:r>
            <a:r>
              <a:rPr lang="en-US" sz="14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Технологія — організована сукупність процесів для отримання кінцевих продуктів. Інженери реалізують ці процеси, створюючи надійні продукти.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Програмна інженерія як наука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Теоретична основа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13050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Теорія алгоритмів, програмування, обчислень, обчислювальних мереж, математична логіка, теорія керування.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 проектами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Планування робіт, регулювання ресурсів, оцінювання ризиків, експертне оцінювання проміжних результатів ЖЦ.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Стандарти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ISO/IEC 12207, ДСТУ 9126 — регламентують процеси ЖЦ, інженерію вимог, тестування та забезпечення якості.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1;p15"/>
          <p:cNvSpPr txBox="1"/>
          <p:nvPr/>
        </p:nvSpPr>
        <p:spPr>
          <a:xfrm>
            <a:off x="648070" y="476250"/>
            <a:ext cx="6418555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Фундаментальні</a:t>
            </a:r>
            <a:r>
              <a:rPr lang="en-US" sz="25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5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принципи</a:t>
            </a:r>
            <a:r>
              <a:rPr lang="en-US" sz="255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550" b="1" i="0" u="none" strike="noStrike" cap="none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інженерії</a:t>
            </a:r>
            <a:endParaRPr dirty="0"/>
          </a:p>
        </p:txBody>
      </p:sp>
      <p:sp>
        <p:nvSpPr>
          <p:cNvPr id="6" name="Google Shape;110;p15"/>
          <p:cNvSpPr txBox="1"/>
          <p:nvPr/>
        </p:nvSpPr>
        <p:spPr>
          <a:xfrm>
            <a:off x="710214" y="1446763"/>
            <a:ext cx="3207119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Ефективність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та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практичність</a:t>
            </a:r>
            <a:endParaRPr dirty="0"/>
          </a:p>
        </p:txBody>
      </p:sp>
      <p:sp>
        <p:nvSpPr>
          <p:cNvPr id="7" name="Google Shape;111;p15"/>
          <p:cNvSpPr txBox="1"/>
          <p:nvPr/>
        </p:nvSpPr>
        <p:spPr>
          <a:xfrm>
            <a:off x="728012" y="2194602"/>
            <a:ext cx="3189321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Результати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отримують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допомогою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заданих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ресурсів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що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відповідають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вимогам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стандартизовані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мають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конкретних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замовників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8" name="Google Shape;113;p15"/>
          <p:cNvSpPr txBox="1"/>
          <p:nvPr/>
        </p:nvSpPr>
        <p:spPr>
          <a:xfrm>
            <a:off x="4355810" y="1446763"/>
            <a:ext cx="3207119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Науковість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та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успадкованість</a:t>
            </a:r>
            <a:endParaRPr dirty="0"/>
          </a:p>
        </p:txBody>
      </p:sp>
      <p:sp>
        <p:nvSpPr>
          <p:cNvPr id="9" name="Google Shape;114;p15"/>
          <p:cNvSpPr txBox="1"/>
          <p:nvPr/>
        </p:nvSpPr>
        <p:spPr>
          <a:xfrm>
            <a:off x="4508530" y="2218733"/>
            <a:ext cx="3054399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Ґрунтується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фундаментальних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науках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і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накопиченому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практичному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досвіді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виключаючи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розробку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«з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нуля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».</a:t>
            </a:r>
            <a:endParaRPr sz="1600" dirty="0"/>
          </a:p>
        </p:txBody>
      </p:sp>
      <p:sp>
        <p:nvSpPr>
          <p:cNvPr id="10" name="Google Shape;116;p15"/>
          <p:cNvSpPr txBox="1"/>
          <p:nvPr/>
        </p:nvSpPr>
        <p:spPr>
          <a:xfrm>
            <a:off x="8331431" y="1472200"/>
            <a:ext cx="3207119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Відчутність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та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супровід</a:t>
            </a:r>
            <a:endParaRPr dirty="0"/>
          </a:p>
        </p:txBody>
      </p:sp>
      <p:sp>
        <p:nvSpPr>
          <p:cNvPr id="11" name="Google Shape;117;p15"/>
          <p:cNvSpPr txBox="1"/>
          <p:nvPr/>
        </p:nvSpPr>
        <p:spPr>
          <a:xfrm>
            <a:off x="8451949" y="2150821"/>
            <a:ext cx="296608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Створення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реальних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продуктів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які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піддаються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емпіричним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дослідженням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обов'язково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обслуговуються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під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час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експлуатації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99477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87162" y="162715"/>
            <a:ext cx="524214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ru-RU" b="1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Інженерна</a:t>
            </a:r>
            <a:r>
              <a:rPr lang="ru-RU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ru-RU" b="1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діяльність</a:t>
            </a:r>
            <a:r>
              <a:rPr lang="ru-RU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у </a:t>
            </a:r>
            <a:r>
              <a:rPr lang="ru-RU" b="1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контексті</a:t>
            </a:r>
            <a:r>
              <a:rPr lang="ru-RU" b="1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ru-RU" b="1" dirty="0" err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технологій</a:t>
            </a:r>
            <a:endParaRPr lang="ru-RU" dirty="0"/>
          </a:p>
        </p:txBody>
      </p:sp>
      <p:pic>
        <p:nvPicPr>
          <p:cNvPr id="3" name="Google Shape;136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59797" y="751572"/>
            <a:ext cx="9588715" cy="50396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75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25554" y="477688"/>
            <a:ext cx="56248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Базові складові інженерної дисципліни</a:t>
            </a:r>
            <a:endParaRPr lang="uk-UA" sz="24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941" y="939354"/>
            <a:ext cx="6903721" cy="3011324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5" name="Прямоугольник 4"/>
          <p:cNvSpPr/>
          <p:nvPr/>
        </p:nvSpPr>
        <p:spPr>
          <a:xfrm>
            <a:off x="82061" y="4220309"/>
            <a:ext cx="12109939" cy="2734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uk-U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ядро знань SWEBOK </a:t>
            </a: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набір теоретичних концепцій і формальних визначень методів і засобів розробки та керування програмними проектами;</a:t>
            </a:r>
            <a:endParaRPr lang="uk-UA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uk-U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базовий процес ПІ</a:t>
            </a: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стрижень процесної діяльності в організації-розробнику ПП;</a:t>
            </a:r>
            <a:endParaRPr lang="uk-UA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uk-U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стандарти</a:t>
            </a: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набір регламентованих правил конструювання проміжних артефактів у процесах ЖЦ;</a:t>
            </a:r>
            <a:endParaRPr lang="uk-UA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</a:t>
            </a:r>
            <a:r>
              <a:rPr lang="uk-U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інфраструктура</a:t>
            </a: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умови середовища та методичне забезпечення базового процесу ПІ і підтримка дій його виконавців, що займаються виробництвом ПП;</a:t>
            </a:r>
            <a:endParaRPr lang="uk-UA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5) </a:t>
            </a:r>
            <a:r>
              <a:rPr lang="uk-U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менеджмент проекту</a:t>
            </a: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(РМВОК) </a:t>
            </a:r>
            <a:r>
              <a:rPr lang="uk-U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ядро знань для керування проектами – набір стандартних процесів, принципів і методів планування і управління проектом.</a:t>
            </a:r>
            <a:endParaRPr lang="uk-U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3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65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Проектування у програмній інженерії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441549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39128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Тестування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9128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Розроблення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238437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Специфікація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39128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Опис вимог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92458" y="4696968"/>
            <a:ext cx="10837762" cy="154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Проектування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включає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експертні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оцінки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рішень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валідацію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гіпотез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теорію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абстрагування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керування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ресурсами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Базисом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сучасної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інженерії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стали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компоненти</a:t>
            </a:r>
            <a:r>
              <a:rPr lang="en-US" sz="1600" dirty="0" smtClean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повторного</a:t>
            </a:r>
            <a:r>
              <a:rPr lang="en-US" sz="1600" dirty="0" smtClean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використання</a:t>
            </a:r>
            <a:r>
              <a:rPr lang="en-US" sz="1600" dirty="0" smtClean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(reuse)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аналогічно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готовим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деталям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промисловості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Характерна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ознака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поява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нових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фахівців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менеджерів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тестувальників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технологів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контролерів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проміжних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результатів</a:t>
            </a:r>
            <a:r>
              <a:rPr lang="en-US" sz="1600" dirty="0" smtClean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Зміст ПІ за дисциплінами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563" y="1624013"/>
            <a:ext cx="225915" cy="2259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Наукова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Формальні методи специфікації, верифікації, теоретичні моделі надійності програм.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563" y="2647652"/>
            <a:ext cx="225915" cy="2259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Інженерна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Технологічні засоби проектування ПС за моделями ЖЦ, вимоги, вихідний код, супровід.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563" y="3671292"/>
            <a:ext cx="225915" cy="22592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</a:t>
            </a:r>
            <a:endParaRPr lang="en-US" sz="1450" dirty="0"/>
          </a:p>
        </p:txBody>
      </p:sp>
      <p:sp>
        <p:nvSpPr>
          <p:cNvPr id="14" name="Text 6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Теорія управління проектом: графіки, ризики, конфігурації, передача користувачам.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5563" y="4694932"/>
            <a:ext cx="225915" cy="22592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Економічна</a:t>
            </a:r>
            <a:endParaRPr lang="en-US" sz="1450" dirty="0"/>
          </a:p>
        </p:txBody>
      </p:sp>
      <p:sp>
        <p:nvSpPr>
          <p:cNvPr id="18" name="Text 8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Експертне оцінювання об'єктів ЖЦ, розрахунки часу, обсягу та вартості.</a:t>
            </a:r>
            <a:endParaRPr lang="en-US" sz="11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5563" y="5718572"/>
            <a:ext cx="225915" cy="22592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Виробнича</a:t>
            </a:r>
            <a:endParaRPr lang="en-US" sz="1450" dirty="0"/>
          </a:p>
        </p:txBody>
      </p:sp>
      <p:sp>
        <p:nvSpPr>
          <p:cNvPr id="22" name="Text 10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Промислові технології з готовими ресурсами, компонентами reuse, верифікація та тестування.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ПІ у порівнянні з суміжними дисциплінами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6319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Три основні труднощі ПІ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65698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Застарілі системи, які необхідно супроводжувати і розвивати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Робота в гетерогенному середовищі з розподіленими системами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Нестача часу, відведеного на розробку програмних продуктів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811488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F8ECD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889573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80941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Ці проблеми не є незалежними і можуть накладатися одна на одну.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6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Якісний програмний продукт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26753"/>
            <a:ext cx="5362044" cy="157738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119" y="149840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541" y="1634728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119" y="2139156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Функціональність *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2484438"/>
            <a:ext cx="50187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Обов'язковий критерій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8176" y="1326753"/>
            <a:ext cx="5362044" cy="157738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39820" y="149840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6243" y="1634728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9820" y="2139156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Надійність *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39820" y="2484438"/>
            <a:ext cx="50187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Обов'язковий критерій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1475" y="3048794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3119" y="322044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541" y="3356769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119" y="3861197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Легкість застосування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168176" y="3048794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39820" y="3220442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6243" y="3356769"/>
            <a:ext cx="223237" cy="2232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39820" y="3861197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Ефективність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61475" y="4435971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3119" y="4607620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9541" y="4743946"/>
            <a:ext cx="223237" cy="2232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3119" y="5248374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Супроводжуваність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168176" y="4435971"/>
            <a:ext cx="5362044" cy="1242516"/>
          </a:xfrm>
          <a:prstGeom prst="roundRect">
            <a:avLst>
              <a:gd name="adj" fmla="val 559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339820" y="4607620"/>
            <a:ext cx="496081" cy="496094"/>
          </a:xfrm>
          <a:prstGeom prst="ellipse">
            <a:avLst/>
          </a:prstGeom>
          <a:solidFill>
            <a:srgbClr val="DA9B49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6243" y="4743946"/>
            <a:ext cx="223237" cy="22324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39820" y="5248374"/>
            <a:ext cx="50187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Мобільність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61475" y="5841206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Типова статистика впровадження: </a:t>
            </a: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45%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систем поставляються, але не використовуються; </a:t>
            </a: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27%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оплачено, але не поставлено; </a:t>
            </a: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17%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відкинуто; лише </a:t>
            </a:r>
            <a:r>
              <a:rPr lang="en-US" sz="13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5%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використовуються як поставлено. Помилка Ariane 5 коштувала </a:t>
            </a:r>
            <a:r>
              <a:rPr lang="en-US" sz="130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млн доларів</a:t>
            </a:r>
            <a:r>
              <a:rPr lang="en-US" sz="13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122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Вимоги до програмного забезпечення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40173"/>
            <a:ext cx="352773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Класифікація вимог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759" y="2001689"/>
            <a:ext cx="261336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7702" y="1993007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Вимоги користувачів</a:t>
            </a: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зовнішня поведінка системи, цілі та задачі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759" y="2858542"/>
            <a:ext cx="261336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7702" y="2849860"/>
            <a:ext cx="296150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Системні вимоги</a:t>
            </a: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зовнішні умови виконання функцій і обмеження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759" y="3983186"/>
            <a:ext cx="261336" cy="2613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27702" y="3974505"/>
            <a:ext cx="296150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Функціональні вимоги</a:t>
            </a: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перелік функцій та сервісів системи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759" y="4840039"/>
            <a:ext cx="261336" cy="2613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27702" y="4831358"/>
            <a:ext cx="296150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Нефункціональні вимоги</a:t>
            </a: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умови виконання функцій (захист, аутентифікація)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0601" y="1637903"/>
            <a:ext cx="6915870" cy="39190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61475" y="5996087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Вимоги задаються через </a:t>
            </a:r>
            <a:r>
              <a:rPr lang="en-US" sz="13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варіанти використання (use case)</a:t>
            </a: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сценарії або прецеденти з графічною нотацією UML.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Ядро знань SWEBOK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11176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</a:t>
            </a:r>
            <a:r>
              <a:rPr lang="en-US" sz="12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1993 р.</a:t>
            </a: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ACM та IEEE створили комітет SWECC для визначення ядра знань ПІ. SWEBOK охоплює </a:t>
            </a:r>
            <a:r>
              <a:rPr lang="en-US" sz="12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областей знань</a:t>
            </a: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69763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1949549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06732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Програмні вимоги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63116" y="169763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116" y="1949549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9" name="Text 7"/>
          <p:cNvSpPr/>
          <p:nvPr/>
        </p:nvSpPr>
        <p:spPr>
          <a:xfrm>
            <a:off x="6163116" y="206732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Проектування ПЗ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1475" y="257055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2806601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94024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Конструювання ПЗ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63116" y="257055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63116" y="2806601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116" y="294024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Тестування ПЗ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344348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1475" y="3663553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813175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Супровід ПЗ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63116" y="3443486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63116" y="3663553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1" name="Text 19"/>
          <p:cNvSpPr/>
          <p:nvPr/>
        </p:nvSpPr>
        <p:spPr>
          <a:xfrm>
            <a:off x="6163116" y="3813175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 конфігурацією ПЗ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1475" y="431641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07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1475" y="4520605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468610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Керування інженерією ПЗ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163116" y="4316413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08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63116" y="4520605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116" y="4686102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Процес інженерії ПЗ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61475" y="518933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09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1475" y="5377557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55902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Інструменти та методи ПІ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163116" y="5189339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10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63116" y="5377557"/>
            <a:ext cx="5367104" cy="1905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116" y="5559028"/>
            <a:ext cx="5367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Якість ПЗ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61475" y="6079034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Золоте правило Джексона: </a:t>
            </a:r>
            <a:r>
              <a:rPr lang="en-US" sz="1250" i="1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«Будь-яка щойно завершена програмна система одразу потребує змін»</a:t>
            </a:r>
            <a:r>
              <a:rPr lang="en-US" sz="12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PMBOK та підсумки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77317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Групи процесів PMBOK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35683"/>
            <a:ext cx="529031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ключових областей знань: інтеграція, зміст, тривалість, вартість, якість, людські ресурси, комунікації, ризики, закупівлі.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46259" y="1077317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Контрольні запитання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46259" y="1335683"/>
            <a:ext cx="5290311" cy="1050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Дайте визначення програмної інженерії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Визначте особливості методів ПІ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чому полягає проектування у ПІ?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Порівняйте ПІ з іншими інженеріями та комп'ютерними науками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Визначте область дії ПІ</a:t>
            </a:r>
            <a:endParaRPr lang="en-US" sz="900" dirty="0"/>
          </a:p>
          <a:p>
            <a:pPr marL="182880" indent="-182880" algn="l">
              <a:lnSpc>
                <a:spcPct val="108000"/>
              </a:lnSpc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Надайте характеристику областей знань SWEBOK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2495054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109" y="2760861"/>
            <a:ext cx="177200" cy="1772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760" y="2613124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Ініціація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277691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109" y="3543498"/>
            <a:ext cx="177200" cy="1772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760" y="3395762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Планування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4060329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109" y="4326136"/>
            <a:ext cx="177200" cy="1772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760" y="4178399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Виконання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61475" y="4842966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9109" y="5108773"/>
            <a:ext cx="177200" cy="1772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760" y="4961037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Моніторинг і керування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61475" y="5625604"/>
            <a:ext cx="472468" cy="7088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9109" y="5891411"/>
            <a:ext cx="177200" cy="1772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07760" y="5743674"/>
            <a:ext cx="1032246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Завершення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777</Words>
  <Application>Microsoft Office PowerPoint</Application>
  <PresentationFormat>Широкоэкранный</PresentationFormat>
  <Paragraphs>115</Paragraphs>
  <Slides>13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Bricolage Grotesque SemiBold</vt:lpstr>
      <vt:lpstr>Inter Bold</vt:lpstr>
      <vt:lpstr>Inter</vt:lpstr>
      <vt:lpstr>Calibri</vt:lpstr>
      <vt:lpstr>Plus Jakarta Sans</vt:lpstr>
      <vt:lpstr>Times New Roman</vt:lpstr>
      <vt:lpstr>Arial</vt:lpstr>
      <vt:lpstr>Bricolage Grotesque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Tanya</cp:lastModifiedBy>
  <cp:revision>4</cp:revision>
  <dcterms:created xsi:type="dcterms:W3CDTF">2026-08-31T15:02:24Z</dcterms:created>
  <dcterms:modified xsi:type="dcterms:W3CDTF">2026-09-01T09:08:00Z</dcterms:modified>
</cp:coreProperties>
</file>