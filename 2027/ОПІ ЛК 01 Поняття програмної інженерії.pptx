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ricolage Grotesque Bold"/>
      <p:regular r:id="rId201314"/>
    </p:embeddedFont>
    <p:embeddedFont>
      <p:font typeface="Bricolage Grotesque"/>
      <p:regular r:id="rId201315"/>
    </p:embeddedFont>
    <p:embeddedFont>
      <p:font typeface="Bricolage Grotesque SemiBold"/>
      <p:regular r:id="rId201316"/>
    </p:embeddedFont>
    <p:embeddedFont>
      <p:font typeface="Inter SemiBold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  <p:embeddedFont>
      <p:font typeface="Inter Black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.png"/><Relationship Id="rId14" Type="http://schemas.openxmlformats.org/officeDocument/2006/relationships/image" Target="../media/image-5-2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.png"/><Relationship Id="rId18" Type="http://schemas.openxmlformats.org/officeDocument/2006/relationships/image" Target="../media/image-5-2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20523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Програмна інженерія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71490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Лекція 1: Поняття програмної інженерії. Ядро знань SWEBOK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74550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Термін «програмна інженерія» вперше з'явився у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1968 р.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 40 років зміст поняття еволюціонував: від мистецтва одинаків — через теоретичну науку — до повноцінної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інженерної діяльності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855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Визначення та принципи інженерної діяльності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90613"/>
            <a:ext cx="6908330" cy="3914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7456" y="1749227"/>
            <a:ext cx="3239014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Програмна інженерія — це застосування системного, вимірюваного підходу до розробки, використання та супроводу програмного забезпечення.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022826" y="1589584"/>
            <a:ext cx="25399" cy="1761430"/>
          </a:xfrm>
          <a:prstGeom prst="roundRect">
            <a:avLst>
              <a:gd name="adj" fmla="val 50001"/>
            </a:avLst>
          </a:prstGeom>
          <a:solidFill>
            <a:srgbClr val="E7BF6A"/>
          </a:solidFill>
          <a:ln/>
        </p:spPr>
      </p:sp>
      <p:sp>
        <p:nvSpPr>
          <p:cNvPr id="6" name="Text 3"/>
          <p:cNvSpPr/>
          <p:nvPr/>
        </p:nvSpPr>
        <p:spPr>
          <a:xfrm>
            <a:off x="8022826" y="3550543"/>
            <a:ext cx="3513645" cy="259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Інженерна галузь ґрунтується на принципах: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ефективність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практичність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фундаментальність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успадкованість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відчутність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та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супроводження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Технологія — організована сукупність процесів для отримання кінцевих продуктів. Інженери реалізують ці процеси, створюючи надійні продукти.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7442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Програмна інженерія як наука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209006"/>
            <a:ext cx="3053877" cy="2311499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40436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Теоретична основа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813050"/>
            <a:ext cx="2663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Теорія алгоритмів, програмування, обчислень, обчислювальних мереж, математична логіка, теорія керування.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209006"/>
            <a:ext cx="3053976" cy="2311499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40436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Керування проектами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813050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Планування робіт, регулювання ресурсів, оцінювання ризиків, експертне оцінювання проміжних результатів ЖЦ.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70951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90487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Стандарти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313561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ISO/IEC 12207, ДСТУ 9126 — регламентують процеси ЖЦ, інженерію вимог, тестування та забезпечення якості.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565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Проектування у програмній інженерії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441549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39128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Тестування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39128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Розроблення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238437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Специфікація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39128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Опис вимог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478562"/>
            <a:ext cx="1086874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Проектування включає експертні методи оцінки рішень, валідацію гіпотез, теорію абстрагування та керування ресурсами. Базисом сучасної інженерії стали 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компоненти повторного використання (reuse)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аналогічно готовим деталям у промисловості. Характерна ознака — поява нових фахівців: менеджерів, тестувальників, технологів, контролерів проміжних результатів.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Зміст ПІ за дисциплінами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85180"/>
            <a:ext cx="10868745" cy="90368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5563" y="1624013"/>
            <a:ext cx="225915" cy="2259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02918" y="1454845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Наукова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402918" y="176212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Формальні методи специфікації, верифікації, теоретичні моделі надійності програм.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308820"/>
            <a:ext cx="10868745" cy="903684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5563" y="2647652"/>
            <a:ext cx="225915" cy="22592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402918" y="247848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Інженерна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1402918" y="278576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Технологічні засоби проектування ПС за моделями ЖЦ, вимоги, вихідний код, супровід.</a:t>
            </a:r>
            <a:endParaRPr lang="en-US" sz="11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332460"/>
            <a:ext cx="10868745" cy="903684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5563" y="3671292"/>
            <a:ext cx="225915" cy="22592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402918" y="350212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Керування</a:t>
            </a:r>
            <a:endParaRPr lang="en-US" sz="1450" dirty="0"/>
          </a:p>
        </p:txBody>
      </p:sp>
      <p:sp>
        <p:nvSpPr>
          <p:cNvPr id="14" name="Text 6"/>
          <p:cNvSpPr/>
          <p:nvPr/>
        </p:nvSpPr>
        <p:spPr>
          <a:xfrm>
            <a:off x="1402918" y="380940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Теорія управління проектом: графіки, ризики, конфігурації, передача користувачам.</a:t>
            </a:r>
            <a:endParaRPr lang="en-US" sz="11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356100"/>
            <a:ext cx="10868745" cy="903684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5563" y="4694932"/>
            <a:ext cx="225915" cy="225921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402918" y="452576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Економічна</a:t>
            </a:r>
            <a:endParaRPr lang="en-US" sz="1450" dirty="0"/>
          </a:p>
        </p:txBody>
      </p:sp>
      <p:sp>
        <p:nvSpPr>
          <p:cNvPr id="18" name="Text 8"/>
          <p:cNvSpPr/>
          <p:nvPr/>
        </p:nvSpPr>
        <p:spPr>
          <a:xfrm>
            <a:off x="1402918" y="483304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Експертне оцінювання об'єктів ЖЦ, розрахунки часу, обсягу та вартості.</a:t>
            </a:r>
            <a:endParaRPr lang="en-US" sz="11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5379740"/>
            <a:ext cx="10868745" cy="903684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5563" y="5718572"/>
            <a:ext cx="225915" cy="225921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402918" y="554940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Виробнича</a:t>
            </a:r>
            <a:endParaRPr lang="en-US" sz="1450" dirty="0"/>
          </a:p>
        </p:txBody>
      </p:sp>
      <p:sp>
        <p:nvSpPr>
          <p:cNvPr id="22" name="Text 10"/>
          <p:cNvSpPr/>
          <p:nvPr/>
        </p:nvSpPr>
        <p:spPr>
          <a:xfrm>
            <a:off x="1402918" y="5856684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Промислові технології з готовими ресурсами, компонентами reuse, верифікація та тестування.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ПІ у порівнянні з суміжними дисциплінами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6319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Три основні труднощі ПІ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65698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Застарілі системи, які необхідно супроводжувати і розвивати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Робота в гетерогенному середовищі з розподіленими системами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Нестача часу, відведеного на розробку програмних продуктів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811488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F8ECD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489" y="3889573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3880941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Ці проблеми не є незалежними і можуть накладатися одна на одну.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60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Якісний програмний продукт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26753"/>
            <a:ext cx="5362044" cy="157738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119" y="1498402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541" y="1634728"/>
            <a:ext cx="223237" cy="2232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3119" y="2139156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Функціональність *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3119" y="2484438"/>
            <a:ext cx="50187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Обов'язковий критерій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68176" y="1326753"/>
            <a:ext cx="5362044" cy="157738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39820" y="1498402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6243" y="1634728"/>
            <a:ext cx="223237" cy="2232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9820" y="2139156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Надійність *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39820" y="2484438"/>
            <a:ext cx="50187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Обов'язковий критерій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61475" y="3048794"/>
            <a:ext cx="536204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3119" y="3220442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9541" y="3356769"/>
            <a:ext cx="223237" cy="2232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3119" y="3861197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Легкість застосування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168176" y="3048794"/>
            <a:ext cx="536204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39820" y="3220442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6243" y="3356769"/>
            <a:ext cx="223237" cy="2232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39820" y="3861197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Ефективність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61475" y="4435971"/>
            <a:ext cx="536204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33119" y="4607620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541" y="4743946"/>
            <a:ext cx="223237" cy="22324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3119" y="5248374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Супроводжуваність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6168176" y="4435971"/>
            <a:ext cx="536204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339820" y="4607620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6243" y="4743946"/>
            <a:ext cx="223237" cy="22324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39820" y="5248374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Мобільність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661475" y="5841206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Типова статистика впровадження: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45%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систем поставляються, але не використовуються;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27%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оплачено, але не поставлено;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17%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відкинуто; лише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5%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використовуються як поставлено. Помилка Ariane 5 коштувала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млн доларів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122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Вимоги до програмного забезпечення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40173"/>
            <a:ext cx="352773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Класифікація вимог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759" y="2001689"/>
            <a:ext cx="261336" cy="261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7702" y="1993007"/>
            <a:ext cx="296150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Вимоги користувачів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зовнішня поведінка системи, цілі та задачі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759" y="2858542"/>
            <a:ext cx="261336" cy="2613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7702" y="2849860"/>
            <a:ext cx="296150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Системні вимоги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зовнішні умови виконання функцій і обмеження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759" y="3983186"/>
            <a:ext cx="261336" cy="2613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27702" y="3974505"/>
            <a:ext cx="296150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Функціональні вимоги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перелік функцій та сервісів системи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759" y="4840039"/>
            <a:ext cx="261336" cy="2613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27702" y="4831358"/>
            <a:ext cx="296150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Нефункціональні вимоги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умови виконання функцій (захист, аутентифікація)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0601" y="1637903"/>
            <a:ext cx="6915870" cy="391904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1475" y="5996087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Вимоги задаються через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варіанти використання (use case)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сценарії або прецеденти з графічною нотацією UML.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719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Ядро знань SWEBOK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11176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1993 р.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ACM та IEEE створили комітет SWECC для визначення ядра знань ПІ. SWEBOK охоплює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областей знань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697633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1949549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067322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Програмні вимоги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163116" y="1697633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63116" y="1949549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9" name="Text 7"/>
          <p:cNvSpPr/>
          <p:nvPr/>
        </p:nvSpPr>
        <p:spPr>
          <a:xfrm>
            <a:off x="6163116" y="2067322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Проектування ПЗ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1475" y="257055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1475" y="2806601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2940248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Конструювання ПЗ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163116" y="257055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63116" y="2806601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116" y="2940248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Тестування ПЗ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1475" y="344348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1475" y="3663553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813175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Супровід ПЗ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163116" y="344348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63116" y="3663553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21" name="Text 19"/>
          <p:cNvSpPr/>
          <p:nvPr/>
        </p:nvSpPr>
        <p:spPr>
          <a:xfrm>
            <a:off x="6163116" y="3813175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Керування конфігурацією ПЗ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1475" y="4316413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07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1475" y="4520605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4686102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Керування інженерією ПЗ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163116" y="4316413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08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63116" y="4520605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27" name="Text 25"/>
          <p:cNvSpPr/>
          <p:nvPr/>
        </p:nvSpPr>
        <p:spPr>
          <a:xfrm>
            <a:off x="6163116" y="4686102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Процес інженерії ПЗ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61475" y="518933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09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1475" y="5377557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5559028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Інструменти та методи ПІ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163116" y="518933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10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63116" y="5377557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33" name="Text 31"/>
          <p:cNvSpPr/>
          <p:nvPr/>
        </p:nvSpPr>
        <p:spPr>
          <a:xfrm>
            <a:off x="6163116" y="5559028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Якість ПЗ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61475" y="6079034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Золоте правило Джексона: </a:t>
            </a:r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«Будь-яка щойно завершена програмна система одразу потребує змін»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PMBOK та підсумки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077317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Групи процесів PMBOK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35683"/>
            <a:ext cx="529031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ключових областей знань: інтеграція, зміст, тривалість, вартість, якість, людські ресурси, комунікації, ризики, закупівлі.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46259" y="1077317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Контрольні запитання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46259" y="1335683"/>
            <a:ext cx="5290311" cy="1050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08000"/>
              </a:lnSpc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Дайте визначення програмної інженерії</a:t>
            </a:r>
            <a:endParaRPr lang="en-US" sz="900" dirty="0"/>
          </a:p>
          <a:p>
            <a:pPr algn="l" marL="182880" indent="-182880">
              <a:lnSpc>
                <a:spcPct val="108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Визначте особливості методів ПІ</a:t>
            </a:r>
            <a:endParaRPr lang="en-US" sz="900" dirty="0"/>
          </a:p>
          <a:p>
            <a:pPr algn="l" marL="182880" indent="-182880">
              <a:lnSpc>
                <a:spcPct val="1080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чому полягає проектування у ПІ?</a:t>
            </a:r>
            <a:endParaRPr lang="en-US" sz="900" dirty="0"/>
          </a:p>
          <a:p>
            <a:pPr algn="l" marL="182880" indent="-182880">
              <a:lnSpc>
                <a:spcPct val="1080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Порівняйте ПІ з іншими інженеріями та комп'ютерними науками</a:t>
            </a:r>
            <a:endParaRPr lang="en-US" sz="900" dirty="0"/>
          </a:p>
          <a:p>
            <a:pPr algn="l" marL="182880" indent="-182880">
              <a:lnSpc>
                <a:spcPct val="108000"/>
              </a:lnSpc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Визначте область дії ПІ</a:t>
            </a:r>
            <a:endParaRPr lang="en-US" sz="900" dirty="0"/>
          </a:p>
          <a:p>
            <a:pPr algn="l" marL="182880" indent="-182880">
              <a:lnSpc>
                <a:spcPct val="108000"/>
              </a:lnSpc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Надайте характеристику областей знань SWEBOK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1475" y="2495054"/>
            <a:ext cx="472468" cy="7088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109" y="2760861"/>
            <a:ext cx="177200" cy="1772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760" y="2613124"/>
            <a:ext cx="1032246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Ініціація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3277691"/>
            <a:ext cx="472468" cy="7088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109" y="3543498"/>
            <a:ext cx="177200" cy="1772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760" y="3395762"/>
            <a:ext cx="1032246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Планування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4060329"/>
            <a:ext cx="472468" cy="7088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109" y="4326136"/>
            <a:ext cx="177200" cy="1772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760" y="4178399"/>
            <a:ext cx="1032246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Виконання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61475" y="4842966"/>
            <a:ext cx="472468" cy="7088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9109" y="5108773"/>
            <a:ext cx="177200" cy="1772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760" y="4961037"/>
            <a:ext cx="1032246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Моніторинг і керування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61475" y="5625604"/>
            <a:ext cx="472468" cy="7088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9109" y="5891411"/>
            <a:ext cx="177200" cy="17720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07760" y="5743674"/>
            <a:ext cx="1032246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Завершення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2026-08-31T15:02:24Z</dcterms:created>
  <dcterms:modified xsi:type="dcterms:W3CDTF">2026-08-31T15:02:24Z</dcterms:modified>
</cp:coreProperties>
</file>