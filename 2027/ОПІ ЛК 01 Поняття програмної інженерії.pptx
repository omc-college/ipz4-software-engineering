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6" r:id="rId5"/>
    <p:sldId id="267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  <p:embeddedFontLst>
    <p:embeddedFont>
      <p:font typeface="Inter Bold" panose="020B0604020202020204" charset="0"/>
      <p:regular r:id="rId15"/>
    </p:embeddedFon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Inter" panose="020B0604020202020204" charset="0"/>
      <p:regular r:id="rId20"/>
      <p:bold r:id="rId21"/>
      <p:italic r:id="rId22"/>
      <p:boldItalic r:id="rId23"/>
    </p:embeddedFont>
    <p:embeddedFont>
      <p:font typeface="Plus Jakarta Sans" panose="020B0604020202020204" charset="0"/>
      <p:regular r:id="rId24"/>
      <p:bold r:id="rId25"/>
      <p:italic r:id="rId26"/>
      <p:boldItalic r:id="rId27"/>
    </p:embeddedFont>
    <p:embeddedFont>
      <p:font typeface="Bricolage Grotesque SemiBold" panose="020B0604020202020204" charset="0"/>
      <p:regular r:id="rId2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356" y="9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2251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8" Type="http://schemas.openxmlformats.org/officeDocument/2006/relationships/image" Target="../media/image-5-2.svg"/><Relationship Id="rId3" Type="http://schemas.openxmlformats.org/officeDocument/2006/relationships/image" Target="../media/image8.png"/><Relationship Id="rId7" Type="http://schemas.openxmlformats.org/officeDocument/2006/relationships/image" Target="../media/image-5-2.svg"/><Relationship Id="rId12" Type="http://schemas.openxmlformats.org/officeDocument/2006/relationships/image" Target="../media/image-5-12.sv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-5-16.svg"/><Relationship Id="rId20" Type="http://schemas.openxmlformats.org/officeDocument/2006/relationships/image" Target="../media/image-5-2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5-4.svg"/><Relationship Id="rId11" Type="http://schemas.openxmlformats.org/officeDocument/2006/relationships/image" Target="../media/image11.png"/><Relationship Id="rId5" Type="http://schemas.openxmlformats.org/officeDocument/2006/relationships/image" Target="../media/image9.png"/><Relationship Id="rId15" Type="http://schemas.openxmlformats.org/officeDocument/2006/relationships/image" Target="../media/image12.png"/><Relationship Id="rId10" Type="http://schemas.openxmlformats.org/officeDocument/2006/relationships/image" Target="../media/image-5-2.svg"/><Relationship Id="rId19" Type="http://schemas.openxmlformats.org/officeDocument/2006/relationships/image" Target="../media/image13.png"/><Relationship Id="rId4" Type="http://schemas.openxmlformats.org/officeDocument/2006/relationships/image" Target="../media/image-5-2.svg"/><Relationship Id="rId9" Type="http://schemas.openxmlformats.org/officeDocument/2006/relationships/image" Target="../media/image-5-8.svg"/><Relationship Id="rId14" Type="http://schemas.openxmlformats.org/officeDocument/2006/relationships/image" Target="../media/image-5-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-7-6.svg"/><Relationship Id="rId13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12" Type="http://schemas.openxmlformats.org/officeDocument/2006/relationships/image" Target="../media/image-7-10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7-4.svg"/><Relationship Id="rId11" Type="http://schemas.openxmlformats.org/officeDocument/2006/relationships/image" Target="../media/image20.png"/><Relationship Id="rId5" Type="http://schemas.openxmlformats.org/officeDocument/2006/relationships/image" Target="../media/image17.png"/><Relationship Id="rId10" Type="http://schemas.openxmlformats.org/officeDocument/2006/relationships/image" Target="../media/image-7-8.svg"/><Relationship Id="rId4" Type="http://schemas.openxmlformats.org/officeDocument/2006/relationships/image" Target="../media/image-7-2.svg"/><Relationship Id="rId9" Type="http://schemas.openxmlformats.org/officeDocument/2006/relationships/image" Target="../media/image19.png"/><Relationship Id="rId14" Type="http://schemas.openxmlformats.org/officeDocument/2006/relationships/image" Target="../media/image-7-12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-8-2.svg"/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8-2.svg"/><Relationship Id="rId5" Type="http://schemas.openxmlformats.org/officeDocument/2006/relationships/image" Target="../media/image-8-2.svg"/><Relationship Id="rId4" Type="http://schemas.openxmlformats.org/officeDocument/2006/relationships/image" Target="../media/image-8-2.svg"/><Relationship Id="rId9" Type="http://schemas.openxmlformats.org/officeDocument/2006/relationships/image" Target="../media/image23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-10-6.svg"/><Relationship Id="rId3" Type="http://schemas.openxmlformats.org/officeDocument/2006/relationships/image" Target="../media/image24.png"/><Relationship Id="rId7" Type="http://schemas.openxmlformats.org/officeDocument/2006/relationships/image" Target="../media/image26.png"/><Relationship Id="rId12" Type="http://schemas.openxmlformats.org/officeDocument/2006/relationships/image" Target="../media/image-10-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10-4.svg"/><Relationship Id="rId11" Type="http://schemas.openxmlformats.org/officeDocument/2006/relationships/image" Target="../media/image28.png"/><Relationship Id="rId5" Type="http://schemas.openxmlformats.org/officeDocument/2006/relationships/image" Target="../media/image25.png"/><Relationship Id="rId10" Type="http://schemas.openxmlformats.org/officeDocument/2006/relationships/image" Target="../media/image-10-8.svg"/><Relationship Id="rId4" Type="http://schemas.openxmlformats.org/officeDocument/2006/relationships/image" Target="../media/image-10-2.svg"/><Relationship Id="rId9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2205236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Програмна інженерія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2871490"/>
            <a:ext cx="629686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Лекція 1: Поняття програмної інженерії. Ядро знань SWEBOK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1475" y="3745508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Термін «програмна інженерія» вперше з'явився у </a:t>
            </a:r>
            <a:r>
              <a:rPr lang="en-US" sz="145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1968 р.</a:t>
            </a:r>
            <a:r>
              <a:rPr lang="en-US" sz="14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За 40 років зміст поняття еволюціонував: від мистецтва одинаків — через теоретичну науку — до повноцінної </a:t>
            </a:r>
            <a:r>
              <a:rPr lang="en-US" sz="1450" dirty="0">
                <a:solidFill>
                  <a:srgbClr val="E7BF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інженерної діяльності</a:t>
            </a:r>
            <a:r>
              <a:rPr lang="en-US" sz="14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51855"/>
            <a:ext cx="10868745" cy="5721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Визначення та принципи інженерної діяльності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890613"/>
            <a:ext cx="6908330" cy="391477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97456" y="1749227"/>
            <a:ext cx="3239014" cy="14421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Програмна інженерія — це застосування системного, вимірюваного підходу до розробки, використання та супроводу програмного забезпечення.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8022826" y="1589584"/>
            <a:ext cx="25399" cy="1761430"/>
          </a:xfrm>
          <a:prstGeom prst="roundRect">
            <a:avLst>
              <a:gd name="adj" fmla="val 50001"/>
            </a:avLst>
          </a:prstGeom>
          <a:solidFill>
            <a:srgbClr val="E7BF6A"/>
          </a:solidFill>
          <a:ln/>
        </p:spPr>
      </p:sp>
      <p:sp>
        <p:nvSpPr>
          <p:cNvPr id="6" name="Text 3"/>
          <p:cNvSpPr/>
          <p:nvPr/>
        </p:nvSpPr>
        <p:spPr>
          <a:xfrm>
            <a:off x="8022826" y="3550543"/>
            <a:ext cx="3513645" cy="2595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Інженерна галузь ґрунтується на принципах: </a:t>
            </a:r>
            <a:r>
              <a:rPr lang="en-US" sz="140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ефективність</a:t>
            </a:r>
            <a:r>
              <a:rPr lang="en-US" sz="14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40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практичність</a:t>
            </a:r>
            <a:r>
              <a:rPr lang="en-US" sz="14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40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фундаментальність</a:t>
            </a:r>
            <a:r>
              <a:rPr lang="en-US" sz="14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40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успадкованість</a:t>
            </a:r>
            <a:r>
              <a:rPr lang="en-US" sz="14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40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відчутність</a:t>
            </a:r>
            <a:r>
              <a:rPr lang="en-US" sz="14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та </a:t>
            </a:r>
            <a:r>
              <a:rPr lang="en-US" sz="140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супроводження</a:t>
            </a:r>
            <a:r>
              <a:rPr lang="en-US" sz="14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Технологія — організована сукупність процесів для отримання кінцевих продуктів. Інженери реалізують ці процеси, створюючи надійні продукти.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744240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Програмна інженерія як наука</a:t>
            </a:r>
            <a:endParaRPr lang="en-US" sz="3700" dirty="0"/>
          </a:p>
        </p:txBody>
      </p:sp>
      <p:sp>
        <p:nvSpPr>
          <p:cNvPr id="4" name="Shape 1"/>
          <p:cNvSpPr/>
          <p:nvPr/>
        </p:nvSpPr>
        <p:spPr>
          <a:xfrm>
            <a:off x="661475" y="2209006"/>
            <a:ext cx="3053877" cy="2311499"/>
          </a:xfrm>
          <a:prstGeom prst="roundRect">
            <a:avLst>
              <a:gd name="adj" fmla="val 3434"/>
            </a:avLst>
          </a:prstGeom>
          <a:solidFill>
            <a:srgbClr val="FFFFFF"/>
          </a:solidFill>
          <a:ln w="6350">
            <a:solidFill>
              <a:srgbClr val="F8ECD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56832" y="2404368"/>
            <a:ext cx="26631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Теоретична основа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856832" y="2813050"/>
            <a:ext cx="2663163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Теорія алгоритмів, програмування, обчислень, обчислювальних мереж, математична логіка, теорія керування.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904359" y="2209006"/>
            <a:ext cx="3053976" cy="2311499"/>
          </a:xfrm>
          <a:prstGeom prst="roundRect">
            <a:avLst>
              <a:gd name="adj" fmla="val 3434"/>
            </a:avLst>
          </a:prstGeom>
          <a:solidFill>
            <a:srgbClr val="FFFFFF"/>
          </a:solidFill>
          <a:ln w="6350">
            <a:solidFill>
              <a:srgbClr val="F8ECD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099715" y="2404368"/>
            <a:ext cx="266326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Керування проектами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4099715" y="2813050"/>
            <a:ext cx="2663262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Планування робіт, регулювання ресурсів, оцінювання ризиків, експертне оцінювання проміжних результатів ЖЦ.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61475" y="4709517"/>
            <a:ext cx="6296860" cy="1404243"/>
          </a:xfrm>
          <a:prstGeom prst="roundRect">
            <a:avLst>
              <a:gd name="adj" fmla="val 5653"/>
            </a:avLst>
          </a:prstGeom>
          <a:solidFill>
            <a:srgbClr val="FFFFFF"/>
          </a:solidFill>
          <a:ln w="6350">
            <a:solidFill>
              <a:srgbClr val="F8ECD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6832" y="4904879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Стандарти</a:t>
            </a:r>
            <a:endParaRPr lang="en-US" sz="1850" dirty="0"/>
          </a:p>
        </p:txBody>
      </p:sp>
      <p:sp>
        <p:nvSpPr>
          <p:cNvPr id="12" name="Text 9"/>
          <p:cNvSpPr/>
          <p:nvPr/>
        </p:nvSpPr>
        <p:spPr>
          <a:xfrm>
            <a:off x="856832" y="5313561"/>
            <a:ext cx="590614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ISO/IEC 12207, ДСТУ 9126 — регламентують процеси ЖЦ, інженерію вимог, тестування та забезпечення якості.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1;p15"/>
          <p:cNvSpPr txBox="1"/>
          <p:nvPr/>
        </p:nvSpPr>
        <p:spPr>
          <a:xfrm>
            <a:off x="648070" y="476250"/>
            <a:ext cx="6418555" cy="47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Фундаментальні</a:t>
            </a:r>
            <a:r>
              <a:rPr lang="en-US" sz="255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2550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принципи</a:t>
            </a:r>
            <a:r>
              <a:rPr lang="en-US" sz="255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2550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інженерії</a:t>
            </a:r>
            <a:endParaRPr dirty="0"/>
          </a:p>
        </p:txBody>
      </p:sp>
      <p:sp>
        <p:nvSpPr>
          <p:cNvPr id="6" name="Google Shape;110;p15"/>
          <p:cNvSpPr txBox="1"/>
          <p:nvPr/>
        </p:nvSpPr>
        <p:spPr>
          <a:xfrm>
            <a:off x="710214" y="1446763"/>
            <a:ext cx="3207119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 err="1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Ефективність</a:t>
            </a:r>
            <a:r>
              <a:rPr lang="en-US" sz="1650" b="1" i="0" u="none" strike="noStrike" cap="none" dirty="0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650" b="1" i="0" u="none" strike="noStrike" cap="none" dirty="0" err="1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та</a:t>
            </a:r>
            <a:r>
              <a:rPr lang="en-US" sz="1650" b="1" i="0" u="none" strike="noStrike" cap="none" dirty="0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650" b="1" i="0" u="none" strike="noStrike" cap="none" dirty="0" err="1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практичність</a:t>
            </a:r>
            <a:endParaRPr dirty="0"/>
          </a:p>
        </p:txBody>
      </p:sp>
      <p:sp>
        <p:nvSpPr>
          <p:cNvPr id="7" name="Google Shape;111;p15"/>
          <p:cNvSpPr txBox="1"/>
          <p:nvPr/>
        </p:nvSpPr>
        <p:spPr>
          <a:xfrm>
            <a:off x="728012" y="2194602"/>
            <a:ext cx="3189321" cy="1846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Результати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отримують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за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допомогою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заданих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ресурсів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що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відповідають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вимогам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стандартизовані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та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мають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конкретних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замовників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600" dirty="0"/>
          </a:p>
        </p:txBody>
      </p:sp>
      <p:sp>
        <p:nvSpPr>
          <p:cNvPr id="8" name="Google Shape;113;p15"/>
          <p:cNvSpPr txBox="1"/>
          <p:nvPr/>
        </p:nvSpPr>
        <p:spPr>
          <a:xfrm>
            <a:off x="4355810" y="1446763"/>
            <a:ext cx="3207119" cy="272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 err="1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Науковість</a:t>
            </a:r>
            <a:r>
              <a:rPr lang="en-US" sz="1650" b="1" i="0" u="none" strike="noStrike" cap="none" dirty="0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650" b="1" i="0" u="none" strike="noStrike" cap="none" dirty="0" err="1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та</a:t>
            </a:r>
            <a:r>
              <a:rPr lang="en-US" sz="1650" b="1" i="0" u="none" strike="noStrike" cap="none" dirty="0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650" b="1" i="0" u="none" strike="noStrike" cap="none" dirty="0" err="1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успадкованість</a:t>
            </a:r>
            <a:endParaRPr dirty="0"/>
          </a:p>
        </p:txBody>
      </p:sp>
      <p:sp>
        <p:nvSpPr>
          <p:cNvPr id="9" name="Google Shape;114;p15"/>
          <p:cNvSpPr txBox="1"/>
          <p:nvPr/>
        </p:nvSpPr>
        <p:spPr>
          <a:xfrm>
            <a:off x="4508530" y="2218733"/>
            <a:ext cx="3054399" cy="1846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Ґрунтується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на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фундаментальних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науках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і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накопиченому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практичному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досвіді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виключаючи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розробку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«з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нуля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».</a:t>
            </a:r>
            <a:endParaRPr sz="1600" dirty="0"/>
          </a:p>
        </p:txBody>
      </p:sp>
      <p:sp>
        <p:nvSpPr>
          <p:cNvPr id="10" name="Google Shape;116;p15"/>
          <p:cNvSpPr txBox="1"/>
          <p:nvPr/>
        </p:nvSpPr>
        <p:spPr>
          <a:xfrm>
            <a:off x="8331431" y="1472200"/>
            <a:ext cx="3207119" cy="272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 err="1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Відчутність</a:t>
            </a:r>
            <a:r>
              <a:rPr lang="en-US" sz="1650" b="1" i="0" u="none" strike="noStrike" cap="none" dirty="0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650" b="1" i="0" u="none" strike="noStrike" cap="none" dirty="0" err="1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та</a:t>
            </a:r>
            <a:r>
              <a:rPr lang="en-US" sz="1650" b="1" i="0" u="none" strike="noStrike" cap="none" dirty="0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650" b="1" i="0" u="none" strike="noStrike" cap="none" dirty="0" err="1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супровід</a:t>
            </a:r>
            <a:endParaRPr dirty="0"/>
          </a:p>
        </p:txBody>
      </p:sp>
      <p:sp>
        <p:nvSpPr>
          <p:cNvPr id="11" name="Google Shape;117;p15"/>
          <p:cNvSpPr txBox="1"/>
          <p:nvPr/>
        </p:nvSpPr>
        <p:spPr>
          <a:xfrm>
            <a:off x="8451949" y="2150821"/>
            <a:ext cx="2966085" cy="2215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Створення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реальних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продуктів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які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піддаються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емпіричним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дослідженням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та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обов'язково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обслуговуються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під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час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експлуатації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994771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2587162" y="162715"/>
            <a:ext cx="5242141" cy="4247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20000"/>
              </a:lnSpc>
            </a:pPr>
            <a:r>
              <a:rPr lang="ru-RU" b="1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Інженерна</a:t>
            </a:r>
            <a:r>
              <a:rPr lang="ru-RU" b="1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ru-RU" b="1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діяльність</a:t>
            </a:r>
            <a:r>
              <a:rPr lang="ru-RU" b="1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у </a:t>
            </a:r>
            <a:r>
              <a:rPr lang="ru-RU" b="1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контексті</a:t>
            </a:r>
            <a:r>
              <a:rPr lang="ru-RU" b="1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ru-RU" b="1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технологій</a:t>
            </a:r>
            <a:endParaRPr lang="ru-RU" dirty="0"/>
          </a:p>
        </p:txBody>
      </p:sp>
      <p:pic>
        <p:nvPicPr>
          <p:cNvPr id="3" name="Google Shape;136;p16" descr="imag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259797" y="751572"/>
            <a:ext cx="9588715" cy="50396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7752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15652"/>
            <a:ext cx="10868745" cy="526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Проектування у програмній інженерії</a:t>
            </a:r>
            <a:endParaRPr lang="en-US" sz="3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9830" y="1441549"/>
            <a:ext cx="8452035" cy="386834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341606" y="4391281"/>
            <a:ext cx="1586817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Тестування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6341783" y="4391281"/>
            <a:ext cx="1586817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Розроблення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352827" y="4238437"/>
            <a:ext cx="1586817" cy="611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Специфікація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2320397" y="4391281"/>
            <a:ext cx="1586817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Опис вимог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92458" y="4696968"/>
            <a:ext cx="10837762" cy="15453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Проектування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включає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експертні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методи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оцінки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рішень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валідацію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гіпотез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теорію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абстрагування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та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керування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ресурсами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Базисом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сучасної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інженерії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стали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E7BF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компоненти</a:t>
            </a:r>
            <a:r>
              <a:rPr lang="en-US" sz="1600" dirty="0" smtClean="0">
                <a:solidFill>
                  <a:srgbClr val="E7BF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E7BF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повторного</a:t>
            </a:r>
            <a:r>
              <a:rPr lang="en-US" sz="1600" dirty="0" smtClean="0">
                <a:solidFill>
                  <a:srgbClr val="E7BF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E7BF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використання</a:t>
            </a:r>
            <a:r>
              <a:rPr lang="en-US" sz="1600" dirty="0" smtClean="0">
                <a:solidFill>
                  <a:srgbClr val="E7BF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(reuse)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аналогічно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готовим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деталям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у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промисловості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Характерна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ознака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поява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нових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фахівців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менеджерів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тестувальників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технологів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контролерів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проміжних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результатів</a:t>
            </a:r>
            <a:r>
              <a:rPr lang="en-US" sz="1600" dirty="0" smtClean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4576"/>
            <a:ext cx="10868745" cy="470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Зміст ПІ за дисциплінами</a:t>
            </a:r>
            <a:endParaRPr lang="en-US" sz="29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661475" y="1285180"/>
            <a:ext cx="10868745" cy="903684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865563" y="1624013"/>
            <a:ext cx="225915" cy="22592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402918" y="1454845"/>
            <a:ext cx="9957642" cy="235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Наукова</a:t>
            </a:r>
            <a:endParaRPr lang="en-US" sz="1450" dirty="0"/>
          </a:p>
        </p:txBody>
      </p:sp>
      <p:sp>
        <p:nvSpPr>
          <p:cNvPr id="6" name="Text 2"/>
          <p:cNvSpPr/>
          <p:nvPr/>
        </p:nvSpPr>
        <p:spPr>
          <a:xfrm>
            <a:off x="1402918" y="1762125"/>
            <a:ext cx="9957642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Формальні методи специфікації, верифікації, теоретичні моделі надійності програм.</a:t>
            </a:r>
            <a:endParaRPr lang="en-US" sz="11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661475" y="2308820"/>
            <a:ext cx="10868745" cy="903684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865563" y="2647652"/>
            <a:ext cx="225915" cy="225921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402918" y="2478484"/>
            <a:ext cx="9957642" cy="235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Інженерна</a:t>
            </a:r>
            <a:endParaRPr lang="en-US" sz="1450" dirty="0"/>
          </a:p>
        </p:txBody>
      </p:sp>
      <p:sp>
        <p:nvSpPr>
          <p:cNvPr id="10" name="Text 4"/>
          <p:cNvSpPr/>
          <p:nvPr/>
        </p:nvSpPr>
        <p:spPr>
          <a:xfrm>
            <a:off x="1402918" y="2785765"/>
            <a:ext cx="9957642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Технологічні засоби проектування ПС за моделями ЖЦ, вимоги, вихідний код, супровід.</a:t>
            </a:r>
            <a:endParaRPr lang="en-US" sz="11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661475" y="3332460"/>
            <a:ext cx="10868745" cy="903684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xmlns="" r:embed="rId12"/>
              </a:ext>
            </a:extLst>
          </a:blip>
          <a:stretch>
            <a:fillRect/>
          </a:stretch>
        </p:blipFill>
        <p:spPr>
          <a:xfrm>
            <a:off x="865563" y="3671292"/>
            <a:ext cx="225915" cy="225921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1402918" y="3502124"/>
            <a:ext cx="9957642" cy="235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Керування</a:t>
            </a:r>
            <a:endParaRPr lang="en-US" sz="1450" dirty="0"/>
          </a:p>
        </p:txBody>
      </p:sp>
      <p:sp>
        <p:nvSpPr>
          <p:cNvPr id="14" name="Text 6"/>
          <p:cNvSpPr/>
          <p:nvPr/>
        </p:nvSpPr>
        <p:spPr>
          <a:xfrm>
            <a:off x="1402918" y="3809405"/>
            <a:ext cx="9957642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Теорія управління проектом: графіки, ризики, конфігурації, передача користувачам.</a:t>
            </a:r>
            <a:endParaRPr lang="en-US" sz="115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14"/>
              </a:ext>
            </a:extLst>
          </a:blip>
          <a:stretch>
            <a:fillRect/>
          </a:stretch>
        </p:blipFill>
        <p:spPr>
          <a:xfrm>
            <a:off x="661475" y="4356100"/>
            <a:ext cx="10868745" cy="903684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xmlns="" r:embed="rId16"/>
              </a:ext>
            </a:extLst>
          </a:blip>
          <a:stretch>
            <a:fillRect/>
          </a:stretch>
        </p:blipFill>
        <p:spPr>
          <a:xfrm>
            <a:off x="865563" y="4694932"/>
            <a:ext cx="225915" cy="225921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1402918" y="4525764"/>
            <a:ext cx="9957642" cy="235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Економічна</a:t>
            </a:r>
            <a:endParaRPr lang="en-US" sz="1450" dirty="0"/>
          </a:p>
        </p:txBody>
      </p:sp>
      <p:sp>
        <p:nvSpPr>
          <p:cNvPr id="18" name="Text 8"/>
          <p:cNvSpPr/>
          <p:nvPr/>
        </p:nvSpPr>
        <p:spPr>
          <a:xfrm>
            <a:off x="1402918" y="4833045"/>
            <a:ext cx="9957642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Експертне оцінювання об'єктів ЖЦ, розрахунки часу, обсягу та вартості.</a:t>
            </a:r>
            <a:endParaRPr lang="en-US" sz="115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18"/>
              </a:ext>
            </a:extLst>
          </a:blip>
          <a:stretch>
            <a:fillRect/>
          </a:stretch>
        </p:blipFill>
        <p:spPr>
          <a:xfrm>
            <a:off x="661475" y="5379740"/>
            <a:ext cx="10868745" cy="903684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xmlns="" r:embed="rId20"/>
              </a:ext>
            </a:extLst>
          </a:blip>
          <a:stretch>
            <a:fillRect/>
          </a:stretch>
        </p:blipFill>
        <p:spPr>
          <a:xfrm>
            <a:off x="865563" y="5718572"/>
            <a:ext cx="225915" cy="225921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1402918" y="5549404"/>
            <a:ext cx="9957642" cy="235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Виробнича</a:t>
            </a:r>
            <a:endParaRPr lang="en-US" sz="1450" dirty="0"/>
          </a:p>
        </p:txBody>
      </p:sp>
      <p:sp>
        <p:nvSpPr>
          <p:cNvPr id="22" name="Text 10"/>
          <p:cNvSpPr/>
          <p:nvPr/>
        </p:nvSpPr>
        <p:spPr>
          <a:xfrm>
            <a:off x="1402918" y="5856684"/>
            <a:ext cx="9957642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Промислові технології з готовими ресурсами, компонентами reuse, верифікація та тестування.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768"/>
            <a:ext cx="10868745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ПІ у порівнянні з суміжними дисциплінами</a:t>
            </a:r>
            <a:endParaRPr lang="en-US" sz="1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961132"/>
            <a:ext cx="5315512" cy="531564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21058" y="3163193"/>
            <a:ext cx="5315512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Три основні труднощі ПІ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6221058" y="3365698"/>
            <a:ext cx="5315512" cy="389334"/>
          </a:xfrm>
          <a:prstGeom prst="rect">
            <a:avLst/>
          </a:prstGeom>
          <a:noFill/>
          <a:ln/>
        </p:spPr>
        <p:txBody>
          <a:bodyPr wrap="square" lIns="0" tIns="38985" rIns="0" bIns="0" rtlCol="0" anchor="t">
            <a:normAutofit/>
          </a:bodyPr>
          <a:lstStyle/>
          <a:p>
            <a:pPr marL="152400" indent="-152400" algn="l">
              <a:lnSpc>
                <a:spcPct val="101000"/>
              </a:lnSpc>
              <a:buSzPct val="100000"/>
              <a:buChar char="•"/>
            </a:pPr>
            <a:r>
              <a:rPr lang="en-US" sz="7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Застарілі системи, які необхідно супроводжувати і розвивати</a:t>
            </a:r>
            <a:endParaRPr lang="en-US" sz="750" dirty="0"/>
          </a:p>
          <a:p>
            <a:pPr marL="152400" indent="-152400" algn="l">
              <a:lnSpc>
                <a:spcPct val="101000"/>
              </a:lnSpc>
              <a:buSzPct val="100000"/>
              <a:buChar char="•"/>
            </a:pPr>
            <a:r>
              <a:rPr lang="en-US" sz="7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Робота в гетерогенному середовищі з розподіленими системами</a:t>
            </a:r>
            <a:endParaRPr lang="en-US" sz="750" dirty="0"/>
          </a:p>
          <a:p>
            <a:pPr marL="152400" indent="-152400" algn="l">
              <a:lnSpc>
                <a:spcPct val="101000"/>
              </a:lnSpc>
              <a:buSzPct val="100000"/>
              <a:buChar char="•"/>
            </a:pPr>
            <a:r>
              <a:rPr lang="en-US" sz="7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Нестача часу, відведеного на розробку програмних продуктів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6221058" y="3811488"/>
            <a:ext cx="5315512" cy="256977"/>
          </a:xfrm>
          <a:prstGeom prst="roundRect">
            <a:avLst>
              <a:gd name="adj" fmla="val 15929"/>
            </a:avLst>
          </a:prstGeom>
          <a:solidFill>
            <a:srgbClr val="F8ECD3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489" y="3889573"/>
            <a:ext cx="121738" cy="9743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37658" y="3880941"/>
            <a:ext cx="551106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Ці проблеми не є незалежними і можуть накладатися одна на одну.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0601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Якісний програмний продукт</a:t>
            </a:r>
            <a:endParaRPr lang="en-US" sz="3250" dirty="0"/>
          </a:p>
        </p:txBody>
      </p:sp>
      <p:sp>
        <p:nvSpPr>
          <p:cNvPr id="3" name="Shape 1"/>
          <p:cNvSpPr/>
          <p:nvPr/>
        </p:nvSpPr>
        <p:spPr>
          <a:xfrm>
            <a:off x="661475" y="1326753"/>
            <a:ext cx="5362044" cy="157738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6350">
            <a:solidFill>
              <a:srgbClr val="F8ECD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3119" y="1498402"/>
            <a:ext cx="496081" cy="496094"/>
          </a:xfrm>
          <a:prstGeom prst="ellipse">
            <a:avLst/>
          </a:prstGeom>
          <a:solidFill>
            <a:srgbClr val="DA9B49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969541" y="1634728"/>
            <a:ext cx="223237" cy="22324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3119" y="2139156"/>
            <a:ext cx="501875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Функціональність *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33119" y="2484438"/>
            <a:ext cx="5018756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Обов'язковий критерій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68176" y="1326753"/>
            <a:ext cx="5362044" cy="157738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6350">
            <a:solidFill>
              <a:srgbClr val="F8ECD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339820" y="1498402"/>
            <a:ext cx="496081" cy="496094"/>
          </a:xfrm>
          <a:prstGeom prst="ellipse">
            <a:avLst/>
          </a:prstGeom>
          <a:solidFill>
            <a:srgbClr val="DA9B49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6476243" y="1634728"/>
            <a:ext cx="223237" cy="2232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39820" y="2139156"/>
            <a:ext cx="501875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Надійність *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339820" y="2484438"/>
            <a:ext cx="5018756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Обов'язковий критерій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61475" y="3048794"/>
            <a:ext cx="5362044" cy="1242516"/>
          </a:xfrm>
          <a:prstGeom prst="roundRect">
            <a:avLst>
              <a:gd name="adj" fmla="val 5591"/>
            </a:avLst>
          </a:prstGeom>
          <a:solidFill>
            <a:srgbClr val="FFFFFF"/>
          </a:solidFill>
          <a:ln w="6350">
            <a:solidFill>
              <a:srgbClr val="F8ECD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3119" y="3220442"/>
            <a:ext cx="496081" cy="496094"/>
          </a:xfrm>
          <a:prstGeom prst="ellipse">
            <a:avLst/>
          </a:prstGeom>
          <a:solidFill>
            <a:srgbClr val="DA9B49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969541" y="3356769"/>
            <a:ext cx="223237" cy="22324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3119" y="3861197"/>
            <a:ext cx="501875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Легкість застосування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168176" y="3048794"/>
            <a:ext cx="5362044" cy="1242516"/>
          </a:xfrm>
          <a:prstGeom prst="roundRect">
            <a:avLst>
              <a:gd name="adj" fmla="val 5591"/>
            </a:avLst>
          </a:prstGeom>
          <a:solidFill>
            <a:srgbClr val="FFFFFF"/>
          </a:solidFill>
          <a:ln w="6350">
            <a:solidFill>
              <a:srgbClr val="F8ECD3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339820" y="3220442"/>
            <a:ext cx="496081" cy="496094"/>
          </a:xfrm>
          <a:prstGeom prst="ellipse">
            <a:avLst/>
          </a:prstGeom>
          <a:solidFill>
            <a:srgbClr val="DA9B49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6476243" y="3356769"/>
            <a:ext cx="223237" cy="22324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339820" y="3861197"/>
            <a:ext cx="501875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Ефективність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661475" y="4435971"/>
            <a:ext cx="5362044" cy="1242516"/>
          </a:xfrm>
          <a:prstGeom prst="roundRect">
            <a:avLst>
              <a:gd name="adj" fmla="val 5591"/>
            </a:avLst>
          </a:prstGeom>
          <a:solidFill>
            <a:srgbClr val="FFFFFF"/>
          </a:solidFill>
          <a:ln w="6350">
            <a:solidFill>
              <a:srgbClr val="F8ECD3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33119" y="4607620"/>
            <a:ext cx="496081" cy="496094"/>
          </a:xfrm>
          <a:prstGeom prst="ellipse">
            <a:avLst/>
          </a:prstGeom>
          <a:solidFill>
            <a:srgbClr val="DA9B49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xmlns="" r:embed="rId12"/>
              </a:ext>
            </a:extLst>
          </a:blip>
          <a:stretch>
            <a:fillRect/>
          </a:stretch>
        </p:blipFill>
        <p:spPr>
          <a:xfrm>
            <a:off x="969541" y="4743946"/>
            <a:ext cx="223237" cy="22324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3119" y="5248374"/>
            <a:ext cx="501875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Супроводжуваність</a:t>
            </a:r>
            <a:endParaRPr lang="en-US" sz="1600" dirty="0"/>
          </a:p>
        </p:txBody>
      </p:sp>
      <p:sp>
        <p:nvSpPr>
          <p:cNvPr id="25" name="Shape 18"/>
          <p:cNvSpPr/>
          <p:nvPr/>
        </p:nvSpPr>
        <p:spPr>
          <a:xfrm>
            <a:off x="6168176" y="4435971"/>
            <a:ext cx="5362044" cy="1242516"/>
          </a:xfrm>
          <a:prstGeom prst="roundRect">
            <a:avLst>
              <a:gd name="adj" fmla="val 5591"/>
            </a:avLst>
          </a:prstGeom>
          <a:solidFill>
            <a:srgbClr val="FFFFFF"/>
          </a:solidFill>
          <a:ln w="6350">
            <a:solidFill>
              <a:srgbClr val="F8ECD3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6339820" y="4607620"/>
            <a:ext cx="496081" cy="496094"/>
          </a:xfrm>
          <a:prstGeom prst="ellipse">
            <a:avLst/>
          </a:prstGeom>
          <a:solidFill>
            <a:srgbClr val="DA9B49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xmlns="" r:embed="rId14"/>
              </a:ext>
            </a:extLst>
          </a:blip>
          <a:stretch>
            <a:fillRect/>
          </a:stretch>
        </p:blipFill>
        <p:spPr>
          <a:xfrm>
            <a:off x="6476243" y="4743946"/>
            <a:ext cx="223237" cy="22324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339820" y="5248374"/>
            <a:ext cx="501875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Мобільність</a:t>
            </a:r>
            <a:endParaRPr lang="en-US" sz="1600" dirty="0"/>
          </a:p>
        </p:txBody>
      </p:sp>
      <p:sp>
        <p:nvSpPr>
          <p:cNvPr id="29" name="Text 21"/>
          <p:cNvSpPr/>
          <p:nvPr/>
        </p:nvSpPr>
        <p:spPr>
          <a:xfrm>
            <a:off x="661475" y="5841206"/>
            <a:ext cx="10868745" cy="496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Типова статистика впровадження: </a:t>
            </a:r>
            <a:r>
              <a:rPr lang="en-US" sz="130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45%</a:t>
            </a:r>
            <a:r>
              <a:rPr lang="en-US" sz="13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систем поставляються, але не використовуються; </a:t>
            </a:r>
            <a:r>
              <a:rPr lang="en-US" sz="130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27%</a:t>
            </a:r>
            <a:r>
              <a:rPr lang="en-US" sz="13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оплачено, але не поставлено; </a:t>
            </a:r>
            <a:r>
              <a:rPr lang="en-US" sz="130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17%</a:t>
            </a:r>
            <a:r>
              <a:rPr lang="en-US" sz="13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відкинуто; лише </a:t>
            </a:r>
            <a:r>
              <a:rPr lang="en-US" sz="130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5%</a:t>
            </a:r>
            <a:r>
              <a:rPr lang="en-US" sz="13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використовуються як поставлено. Помилка Ariane 5 коштувала </a:t>
            </a:r>
            <a:r>
              <a:rPr lang="en-US" sz="1300" dirty="0">
                <a:solidFill>
                  <a:srgbClr val="E7BF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500 млн доларів</a:t>
            </a:r>
            <a:r>
              <a:rPr lang="en-US" sz="13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94122"/>
            <a:ext cx="10868745" cy="544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Вимоги до програмного забезпечення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61475" y="1540173"/>
            <a:ext cx="3527734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Класифікація вимог</a:t>
            </a:r>
            <a:endParaRPr lang="en-US" sz="1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726759" y="2001689"/>
            <a:ext cx="261336" cy="2613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27702" y="1993007"/>
            <a:ext cx="2961506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Вимоги користувачів</a:t>
            </a:r>
            <a:r>
              <a:rPr lang="en-US" sz="13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зовнішня поведінка системи, цілі та задачі</a:t>
            </a:r>
            <a:endParaRPr lang="en-US" sz="13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726759" y="2858542"/>
            <a:ext cx="261336" cy="26134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27702" y="2849860"/>
            <a:ext cx="2961506" cy="8033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Системні вимоги</a:t>
            </a:r>
            <a:r>
              <a:rPr lang="en-US" sz="13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зовнішні умови виконання функцій і обмеження</a:t>
            </a:r>
            <a:endParaRPr lang="en-US" sz="13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726759" y="3983186"/>
            <a:ext cx="261336" cy="26134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227702" y="3974505"/>
            <a:ext cx="2961506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Функціональні вимоги</a:t>
            </a:r>
            <a:r>
              <a:rPr lang="en-US" sz="13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перелік функцій та сервісів системи</a:t>
            </a:r>
            <a:endParaRPr lang="en-US" sz="13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726759" y="4840039"/>
            <a:ext cx="261336" cy="26134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227702" y="4831358"/>
            <a:ext cx="2961506" cy="8033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Нефункціональні вимоги</a:t>
            </a:r>
            <a:r>
              <a:rPr lang="en-US" sz="13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умови виконання функцій (захист, аутентифікація)</a:t>
            </a:r>
            <a:endParaRPr lang="en-US" sz="135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20601" y="1637903"/>
            <a:ext cx="6915870" cy="3919041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661475" y="5996087"/>
            <a:ext cx="11478330" cy="267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Вимоги задаються через </a:t>
            </a:r>
            <a:r>
              <a:rPr lang="en-US" sz="135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варіанти використання (use case)</a:t>
            </a:r>
            <a:r>
              <a:rPr lang="en-US" sz="13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сценарії або прецеденти з графічною нотацією UML.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3719"/>
            <a:ext cx="10868745" cy="498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Ядро знань SWEBOK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661475" y="1311176"/>
            <a:ext cx="11478330" cy="235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 </a:t>
            </a:r>
            <a:r>
              <a:rPr lang="en-US" sz="1250" b="1" dirty="0">
                <a:solidFill>
                  <a:srgbClr val="2C292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1993 р.</a:t>
            </a:r>
            <a:r>
              <a:rPr lang="en-US" sz="12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ACM та IEEE створили комітет SWECC для визначення ядра знань ПІ. SWEBOK охоплює </a:t>
            </a:r>
            <a:r>
              <a:rPr lang="en-US" sz="1250" dirty="0">
                <a:solidFill>
                  <a:srgbClr val="E7BF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областей знань</a:t>
            </a:r>
            <a:r>
              <a:rPr lang="en-US" sz="12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61475" y="1697633"/>
            <a:ext cx="31888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C292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01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61475" y="1949549"/>
            <a:ext cx="5367104" cy="19050"/>
          </a:xfrm>
          <a:prstGeom prst="rect">
            <a:avLst/>
          </a:prstGeom>
          <a:solidFill>
            <a:srgbClr val="DA9B49"/>
          </a:solidFill>
          <a:ln/>
        </p:spPr>
      </p:sp>
      <p:sp>
        <p:nvSpPr>
          <p:cNvPr id="6" name="Text 4"/>
          <p:cNvSpPr/>
          <p:nvPr/>
        </p:nvSpPr>
        <p:spPr>
          <a:xfrm>
            <a:off x="661475" y="2067322"/>
            <a:ext cx="536710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Програмні вимоги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163116" y="1697633"/>
            <a:ext cx="31888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C292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02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63116" y="1949549"/>
            <a:ext cx="5367104" cy="19050"/>
          </a:xfrm>
          <a:prstGeom prst="rect">
            <a:avLst/>
          </a:prstGeom>
          <a:solidFill>
            <a:srgbClr val="DA9B49"/>
          </a:solidFill>
          <a:ln/>
        </p:spPr>
      </p:sp>
      <p:sp>
        <p:nvSpPr>
          <p:cNvPr id="9" name="Text 7"/>
          <p:cNvSpPr/>
          <p:nvPr/>
        </p:nvSpPr>
        <p:spPr>
          <a:xfrm>
            <a:off x="6163116" y="2067322"/>
            <a:ext cx="536710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Проектування ПЗ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61475" y="2570559"/>
            <a:ext cx="31888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C292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03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1475" y="2806601"/>
            <a:ext cx="5367104" cy="19050"/>
          </a:xfrm>
          <a:prstGeom prst="rect">
            <a:avLst/>
          </a:prstGeom>
          <a:solidFill>
            <a:srgbClr val="DA9B49"/>
          </a:solidFill>
          <a:ln/>
        </p:spPr>
      </p:sp>
      <p:sp>
        <p:nvSpPr>
          <p:cNvPr id="12" name="Text 10"/>
          <p:cNvSpPr/>
          <p:nvPr/>
        </p:nvSpPr>
        <p:spPr>
          <a:xfrm>
            <a:off x="661475" y="2940248"/>
            <a:ext cx="536710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Конструювання ПЗ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163116" y="2570559"/>
            <a:ext cx="31888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C292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04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63116" y="2806601"/>
            <a:ext cx="5367104" cy="19050"/>
          </a:xfrm>
          <a:prstGeom prst="rect">
            <a:avLst/>
          </a:prstGeom>
          <a:solidFill>
            <a:srgbClr val="DA9B49"/>
          </a:solidFill>
          <a:ln/>
        </p:spPr>
      </p:sp>
      <p:sp>
        <p:nvSpPr>
          <p:cNvPr id="15" name="Text 13"/>
          <p:cNvSpPr/>
          <p:nvPr/>
        </p:nvSpPr>
        <p:spPr>
          <a:xfrm>
            <a:off x="6163116" y="2940248"/>
            <a:ext cx="536710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Тестування ПЗ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61475" y="3443486"/>
            <a:ext cx="31888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C292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05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1475" y="3663553"/>
            <a:ext cx="5367104" cy="19050"/>
          </a:xfrm>
          <a:prstGeom prst="rect">
            <a:avLst/>
          </a:prstGeom>
          <a:solidFill>
            <a:srgbClr val="DA9B49"/>
          </a:solidFill>
          <a:ln/>
        </p:spPr>
      </p:sp>
      <p:sp>
        <p:nvSpPr>
          <p:cNvPr id="18" name="Text 16"/>
          <p:cNvSpPr/>
          <p:nvPr/>
        </p:nvSpPr>
        <p:spPr>
          <a:xfrm>
            <a:off x="661475" y="3813175"/>
            <a:ext cx="536710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Супровід ПЗ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163116" y="3443486"/>
            <a:ext cx="31888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C292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06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63116" y="3663553"/>
            <a:ext cx="5367104" cy="19050"/>
          </a:xfrm>
          <a:prstGeom prst="rect">
            <a:avLst/>
          </a:prstGeom>
          <a:solidFill>
            <a:srgbClr val="DA9B49"/>
          </a:solidFill>
          <a:ln/>
        </p:spPr>
      </p:sp>
      <p:sp>
        <p:nvSpPr>
          <p:cNvPr id="21" name="Text 19"/>
          <p:cNvSpPr/>
          <p:nvPr/>
        </p:nvSpPr>
        <p:spPr>
          <a:xfrm>
            <a:off x="6163116" y="3813175"/>
            <a:ext cx="536710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Керування конфігурацією ПЗ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61475" y="4316413"/>
            <a:ext cx="31888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C292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07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61475" y="4520605"/>
            <a:ext cx="5367104" cy="19050"/>
          </a:xfrm>
          <a:prstGeom prst="rect">
            <a:avLst/>
          </a:prstGeom>
          <a:solidFill>
            <a:srgbClr val="DA9B49"/>
          </a:solidFill>
          <a:ln/>
        </p:spPr>
      </p:sp>
      <p:sp>
        <p:nvSpPr>
          <p:cNvPr id="24" name="Text 22"/>
          <p:cNvSpPr/>
          <p:nvPr/>
        </p:nvSpPr>
        <p:spPr>
          <a:xfrm>
            <a:off x="661475" y="4686102"/>
            <a:ext cx="536710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Керування інженерією ПЗ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163116" y="4316413"/>
            <a:ext cx="31888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C292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08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63116" y="4520605"/>
            <a:ext cx="5367104" cy="19050"/>
          </a:xfrm>
          <a:prstGeom prst="rect">
            <a:avLst/>
          </a:prstGeom>
          <a:solidFill>
            <a:srgbClr val="DA9B49"/>
          </a:solidFill>
          <a:ln/>
        </p:spPr>
      </p:sp>
      <p:sp>
        <p:nvSpPr>
          <p:cNvPr id="27" name="Text 25"/>
          <p:cNvSpPr/>
          <p:nvPr/>
        </p:nvSpPr>
        <p:spPr>
          <a:xfrm>
            <a:off x="6163116" y="4686102"/>
            <a:ext cx="536710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Процес інженерії ПЗ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661475" y="5189339"/>
            <a:ext cx="31888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C292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09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61475" y="5377557"/>
            <a:ext cx="5367104" cy="19050"/>
          </a:xfrm>
          <a:prstGeom prst="rect">
            <a:avLst/>
          </a:prstGeom>
          <a:solidFill>
            <a:srgbClr val="DA9B49"/>
          </a:solidFill>
          <a:ln/>
        </p:spPr>
      </p:sp>
      <p:sp>
        <p:nvSpPr>
          <p:cNvPr id="30" name="Text 28"/>
          <p:cNvSpPr/>
          <p:nvPr/>
        </p:nvSpPr>
        <p:spPr>
          <a:xfrm>
            <a:off x="661475" y="5559028"/>
            <a:ext cx="536710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Інструменти та методи ПІ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6163116" y="5189339"/>
            <a:ext cx="31888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C292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10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163116" y="5377557"/>
            <a:ext cx="5367104" cy="19050"/>
          </a:xfrm>
          <a:prstGeom prst="rect">
            <a:avLst/>
          </a:prstGeom>
          <a:solidFill>
            <a:srgbClr val="DA9B49"/>
          </a:solidFill>
          <a:ln/>
        </p:spPr>
      </p:sp>
      <p:sp>
        <p:nvSpPr>
          <p:cNvPr id="33" name="Text 31"/>
          <p:cNvSpPr/>
          <p:nvPr/>
        </p:nvSpPr>
        <p:spPr>
          <a:xfrm>
            <a:off x="6163116" y="5559028"/>
            <a:ext cx="536710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Якість ПЗ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661475" y="6079034"/>
            <a:ext cx="11478330" cy="235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Золоте правило Джексона: </a:t>
            </a:r>
            <a:r>
              <a:rPr lang="en-US" sz="1250" i="1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«Будь-яка щойно завершена програмна система одразу потребує змін»</a:t>
            </a:r>
            <a:r>
              <a:rPr lang="en-US" sz="125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3577"/>
            <a:ext cx="10868745" cy="369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PMBOK та підсумки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661475" y="1077317"/>
            <a:ext cx="529031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Групи процесів PMBOK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61475" y="1335683"/>
            <a:ext cx="5290311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ключових областей знань: інтеграція, зміст, тривалість, вартість, якість, людські ресурси, комунікації, ризики, закупівлі.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46259" y="1077317"/>
            <a:ext cx="529031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Контрольні запитання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246259" y="1335683"/>
            <a:ext cx="5290311" cy="1050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lnSpc>
                <a:spcPct val="108000"/>
              </a:lnSpc>
              <a:buSzPct val="100000"/>
              <a:buFont typeface="+mj-lt"/>
              <a:buAutoNum type="arabicPeriod"/>
            </a:pPr>
            <a:r>
              <a:rPr lang="en-US" sz="9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Дайте визначення програмної інженерії</a:t>
            </a:r>
            <a:endParaRPr lang="en-US" sz="900" dirty="0"/>
          </a:p>
          <a:p>
            <a:pPr marL="182880" indent="-182880" algn="l">
              <a:lnSpc>
                <a:spcPct val="108000"/>
              </a:lnSpc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Визначте особливості методів ПІ</a:t>
            </a:r>
            <a:endParaRPr lang="en-US" sz="900" dirty="0"/>
          </a:p>
          <a:p>
            <a:pPr marL="182880" indent="-182880" algn="l">
              <a:lnSpc>
                <a:spcPct val="108000"/>
              </a:lnSpc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чому полягає проектування у ПІ?</a:t>
            </a:r>
            <a:endParaRPr lang="en-US" sz="900" dirty="0"/>
          </a:p>
          <a:p>
            <a:pPr marL="182880" indent="-182880" algn="l">
              <a:lnSpc>
                <a:spcPct val="108000"/>
              </a:lnSpc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Порівняйте ПІ з іншими інженеріями та комп'ютерними науками</a:t>
            </a:r>
            <a:endParaRPr lang="en-US" sz="900" dirty="0"/>
          </a:p>
          <a:p>
            <a:pPr marL="182880" indent="-182880" algn="l">
              <a:lnSpc>
                <a:spcPct val="108000"/>
              </a:lnSpc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Визначте область дії ПІ</a:t>
            </a:r>
            <a:endParaRPr lang="en-US" sz="900" dirty="0"/>
          </a:p>
          <a:p>
            <a:pPr marL="182880" indent="-182880" algn="l">
              <a:lnSpc>
                <a:spcPct val="108000"/>
              </a:lnSpc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C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Надайте характеристику областей знань SWEBOK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61475" y="2495054"/>
            <a:ext cx="472468" cy="7088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8ECD3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809109" y="2760861"/>
            <a:ext cx="177200" cy="17720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760" y="2613124"/>
            <a:ext cx="1032246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Ініціація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61475" y="3277691"/>
            <a:ext cx="472468" cy="7088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8ECD3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809109" y="3543498"/>
            <a:ext cx="177200" cy="17720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07760" y="3395762"/>
            <a:ext cx="1032246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Планування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61475" y="4060329"/>
            <a:ext cx="472468" cy="7088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8ECD3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809109" y="4326136"/>
            <a:ext cx="177200" cy="17720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07760" y="4178399"/>
            <a:ext cx="1032246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Виконання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61475" y="4842966"/>
            <a:ext cx="472468" cy="7088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8ECD3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809109" y="5108773"/>
            <a:ext cx="177200" cy="17720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07760" y="4961037"/>
            <a:ext cx="1032246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Моніторинг і керування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661475" y="5625604"/>
            <a:ext cx="472468" cy="7088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8ECD3"/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xmlns="" r:embed="rId12"/>
              </a:ext>
            </a:extLst>
          </a:blip>
          <a:stretch>
            <a:fillRect/>
          </a:stretch>
        </p:blipFill>
        <p:spPr>
          <a:xfrm>
            <a:off x="809109" y="5891411"/>
            <a:ext cx="177200" cy="177205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207760" y="5743674"/>
            <a:ext cx="1032246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2926"/>
                </a:solidFill>
                <a:latin typeface="Bricolage Grotesque SemiBold" pitchFamily="34" charset="0"/>
                <a:ea typeface="Bricolage Grotesque SemiBold" pitchFamily="34" charset="-122"/>
                <a:cs typeface="Bricolage Grotesque SemiBold" pitchFamily="34" charset="-120"/>
              </a:rPr>
              <a:t>Завершення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676</Words>
  <Application>Microsoft Office PowerPoint</Application>
  <PresentationFormat>Широкоэкранный</PresentationFormat>
  <Paragraphs>109</Paragraphs>
  <Slides>12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20" baseType="lpstr">
      <vt:lpstr>Inter Bold</vt:lpstr>
      <vt:lpstr>Bricolage Grotesque Light</vt:lpstr>
      <vt:lpstr>Calibri</vt:lpstr>
      <vt:lpstr>Inter</vt:lpstr>
      <vt:lpstr>Plus Jakarta Sans</vt:lpstr>
      <vt:lpstr>Arial</vt:lpstr>
      <vt:lpstr>Bricolage Grotesque SemiBold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Tanya</cp:lastModifiedBy>
  <cp:revision>3</cp:revision>
  <dcterms:created xsi:type="dcterms:W3CDTF">2026-08-31T15:02:24Z</dcterms:created>
  <dcterms:modified xsi:type="dcterms:W3CDTF">2026-08-31T16:07:39Z</dcterms:modified>
</cp:coreProperties>
</file>