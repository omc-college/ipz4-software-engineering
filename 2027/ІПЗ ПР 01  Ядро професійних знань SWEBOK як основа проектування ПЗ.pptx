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Bricolage Grotesque SemiBold" panose="020B0604020202020204" charset="0"/>
      <p:regular r:id="rId18"/>
    </p:embeddedFont>
    <p:embeddedFont>
      <p:font typeface="Inter" panose="020B0604020202020204" charset="0"/>
      <p:regular r:id="rId19"/>
      <p:bold r:id="rId20"/>
      <p:italic r:id="rId21"/>
      <p:boldItalic r:id="rId22"/>
    </p:embeddedFont>
    <p:embeddedFont>
      <p:font typeface="Inter Bold" panose="020B0604020202020204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12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5865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-2-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2-3.svg"/><Relationship Id="rId5" Type="http://schemas.openxmlformats.org/officeDocument/2006/relationships/image" Target="../media/image-2-3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5-3.svg"/><Relationship Id="rId5" Type="http://schemas.openxmlformats.org/officeDocument/2006/relationships/image" Target="../media/image-5-3.sv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147617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Практична робота №1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350294"/>
            <a:ext cx="6296860" cy="2445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Аналіз структури та ключових галузей SWEBOK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661475" y="5079305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 контексті проєктування програмного забезпечення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572095"/>
            <a:ext cx="6296860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Мета та завдання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5233360" y="1392734"/>
            <a:ext cx="690644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Мета:</a:t>
            </a: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ознайомитися з основним документом SWEBOK.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233360" y="1867396"/>
            <a:ext cx="6296860" cy="135840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0806" y="2377678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6151012" y="2072878"/>
            <a:ext cx="517373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Обрати тему проекту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151012" y="2457351"/>
            <a:ext cx="5173732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Тема для курсової/дипломної роботи — основа подальшої роботи з програмної інженерії.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5233360" y="3397448"/>
            <a:ext cx="6296860" cy="135840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80806" y="3907730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6151012" y="3602930"/>
            <a:ext cx="517373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Проаналізувати SWEBOK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6151012" y="3987403"/>
            <a:ext cx="5173732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Визначити базові аспекти області знань «Проектування ПЗ» для власного проекту.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5233360" y="4927501"/>
            <a:ext cx="6296860" cy="135840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480806" y="5437783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6151012" y="5132983"/>
            <a:ext cx="517373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Оформити звіт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6151012" y="5517455"/>
            <a:ext cx="5173732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Документ із назвою проекту, метою, предметною областю та двома блоками визначень.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Області знань «Проектування ПЗ» у SWEBOK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5346" y="2144066"/>
            <a:ext cx="5315512" cy="2713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SWEBOK структурує знання з проектування ПЗ за шістьма ключовими розділами. Кожен розділ охоплює окрему грань процесу проєктування — від базових концепцій до конкретних методів і нотацій.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029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Шість розділів проектування ПЗ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071588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266950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Базові концепції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6832" y="2675632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Design Basic Concepts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190301" y="2071588"/>
            <a:ext cx="5339919" cy="1101824"/>
          </a:xfrm>
          <a:prstGeom prst="roundRect">
            <a:avLst>
              <a:gd name="adj" fmla="val 7205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5658" y="2266950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Ключові питання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385658" y="2675632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Issues in Software Design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61475" y="3362424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6832" y="3557786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Структура і архітектура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56832" y="3966468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Structure and Architecture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190301" y="3362424"/>
            <a:ext cx="5339919" cy="1101824"/>
          </a:xfrm>
          <a:prstGeom prst="roundRect">
            <a:avLst>
              <a:gd name="adj" fmla="val 7205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5658" y="3557786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Якість проектування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385658" y="3966468"/>
            <a:ext cx="533356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Design Quality Analysis </a:t>
            </a:r>
            <a:endParaRPr lang="uk-UA" sz="2400" dirty="0" smtClean="0">
              <a:solidFill>
                <a:srgbClr val="2C2926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240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</a:t>
            </a: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61475" y="5008811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6832" y="5094796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Нотації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6832" y="5476056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Design Notations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323465" y="5008811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Стратегії і методи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323465" y="5446315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Design Strategies and Methods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904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Що таке SWEBOK?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13644"/>
            <a:ext cx="6948611" cy="39375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03712" y="291362"/>
            <a:ext cx="3588652" cy="40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SWEBOK</a:t>
            </a: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(Software Engineering Body of Knowledge) — документ, підготовлений IEEE Computer Society та ACM для систематизації знань у програмній інженерії.</a:t>
            </a:r>
            <a:endParaRPr lang="en-US" sz="2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61475" y="5370908"/>
            <a:ext cx="5385558" cy="129622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92550" y="5525790"/>
            <a:ext cx="4999607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Призначення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892550" y="5796657"/>
            <a:ext cx="4999607" cy="684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Об'єднати знання з розробки ПЗ, визначити необхідний набір знань, етичні </a:t>
            </a:r>
            <a:r>
              <a:rPr lang="en-US" sz="2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</a:t>
            </a:r>
            <a:r>
              <a:rPr lang="en-US" sz="16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професійні стандарти, навчальну програму.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144662" y="5370909"/>
            <a:ext cx="5385558" cy="9540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75737" y="5525790"/>
            <a:ext cx="4999607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Структура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6375737" y="5796657"/>
            <a:ext cx="4999607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спеціалізованих областей знань, що відображають процеси ЖЦ ПЗ та методи їх підтримки.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7020" y="92673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ПЗ vs Програмний продукт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714357" y="1757779"/>
            <a:ext cx="5098029" cy="4350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0000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Програмне забезпечення (ПЗ)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67020" y="2305477"/>
            <a:ext cx="5098029" cy="2701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Набір комп'ютерних програм, процедур, документації та даних (ISO/IEC 12207). Частина інформаційної системи — не є завершеним рішенням.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46345" y="180343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0000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Програмний продукт (ПП)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001392" y="2303165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Закінчене рішення, яке можна продати. Включає програму та всю супутню документацію, зокрема керівництво користувача. Здатність бути проданим — основа бізнесу з розробки ПЗ.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765" y="1010555"/>
            <a:ext cx="5832011" cy="4828385"/>
          </a:xfrm>
          <a:prstGeom prst="rect">
            <a:avLst/>
          </a:prstGeom>
        </p:spPr>
      </p:pic>
      <p:sp>
        <p:nvSpPr>
          <p:cNvPr id="3" name="Стрелка вправо 2"/>
          <p:cNvSpPr/>
          <p:nvPr/>
        </p:nvSpPr>
        <p:spPr>
          <a:xfrm>
            <a:off x="522085" y="1010555"/>
            <a:ext cx="5604681" cy="417250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Standish </a:t>
            </a:r>
            <a:r>
              <a:rPr lang="en-US" b="1" dirty="0" smtClean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Group</a:t>
            </a:r>
            <a:r>
              <a:rPr lang="uk-UA" b="1" dirty="0" smtClean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– фрагмент звіту</a:t>
            </a:r>
            <a:endParaRPr lang="uk-UA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103405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Успішність IT-проектів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1624707"/>
            <a:ext cx="6296860" cy="1434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 даними </a:t>
            </a:r>
            <a:r>
              <a:rPr lang="en-US" sz="160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Standish Group</a:t>
            </a:r>
            <a:r>
              <a:rPr lang="en-US" sz="16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(звіт Chaos, 2011–2015): лише </a:t>
            </a:r>
            <a:r>
              <a:rPr lang="en-US" sz="1600" b="1" dirty="0">
                <a:solidFill>
                  <a:srgbClr val="E7BF6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28% проектів були успішними</a:t>
            </a:r>
            <a:r>
              <a:rPr lang="en-US" sz="16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серед великих — лише 2%. Із зростанням розміру проекту шанси на успіх катастрофічно падають.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233360" y="3330476"/>
            <a:ext cx="6296860" cy="2493367"/>
          </a:xfrm>
          <a:prstGeom prst="roundRect">
            <a:avLst>
              <a:gd name="adj" fmla="val 3184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203571" y="3064151"/>
            <a:ext cx="3142080" cy="1416943"/>
          </a:xfrm>
          <a:custGeom>
            <a:avLst/>
            <a:gdLst/>
            <a:ahLst/>
            <a:cxnLst/>
            <a:rect l="l" t="t" r="r" b="b"/>
            <a:pathLst>
              <a:path w="3142080" h="1391543">
                <a:moveTo>
                  <a:pt x="66156" y="0"/>
                </a:moveTo>
                <a:lnTo>
                  <a:pt x="3142080" y="0"/>
                </a:lnTo>
                <a:lnTo>
                  <a:pt x="3142080" y="1391543"/>
                </a:lnTo>
                <a:lnTo>
                  <a:pt x="0" y="1391543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5428717" y="3030339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Провалені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335419" y="3471066"/>
            <a:ext cx="2613596" cy="1162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Мета взагалі </a:t>
            </a:r>
            <a:r>
              <a:rPr lang="en-US" sz="2400" dirty="0" err="1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</a:t>
            </a: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uk-UA" sz="2400" dirty="0" smtClean="0">
              <a:solidFill>
                <a:srgbClr val="2C2926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2400" dirty="0" err="1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досягнута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8381790" y="3336826"/>
            <a:ext cx="3142080" cy="1391543"/>
          </a:xfrm>
          <a:custGeom>
            <a:avLst/>
            <a:gdLst/>
            <a:ahLst/>
            <a:cxnLst/>
            <a:rect l="l" t="t" r="r" b="b"/>
            <a:pathLst>
              <a:path w="3142080" h="1391543">
                <a:moveTo>
                  <a:pt x="0" y="0"/>
                </a:moveTo>
                <a:lnTo>
                  <a:pt x="3075924" y="0"/>
                </a:lnTo>
                <a:arcTo wR="66156" hR="66158" stAng="16200000" swAng="5400000"/>
                <a:lnTo>
                  <a:pt x="3142080" y="1391543"/>
                </a:lnTo>
                <a:lnTo>
                  <a:pt x="0" y="13915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8381790" y="3336826"/>
            <a:ext cx="25399" cy="1391543"/>
          </a:xfrm>
          <a:prstGeom prst="roundRect">
            <a:avLst>
              <a:gd name="adj" fmla="val 50001"/>
            </a:avLst>
          </a:prstGeom>
          <a:solidFill>
            <a:srgbClr val="F8ECD3"/>
          </a:solidFill>
          <a:ln/>
        </p:spPr>
      </p:sp>
      <p:sp>
        <p:nvSpPr>
          <p:cNvPr id="11" name="Text 8"/>
          <p:cNvSpPr/>
          <p:nvPr/>
        </p:nvSpPr>
        <p:spPr>
          <a:xfrm>
            <a:off x="8479468" y="3086800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Проблемні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8521958" y="3505614"/>
            <a:ext cx="2764066" cy="1825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Перевищено бюджет/час або часткова функціональність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5239710" y="4728369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F8ECD3"/>
          </a:solidFill>
          <a:ln/>
        </p:spPr>
      </p:sp>
      <p:sp>
        <p:nvSpPr>
          <p:cNvPr id="15" name="Text 12"/>
          <p:cNvSpPr/>
          <p:nvPr/>
        </p:nvSpPr>
        <p:spPr>
          <a:xfrm>
            <a:off x="5428717" y="5464572"/>
            <a:ext cx="166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Успішні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5428717" y="5817493"/>
            <a:ext cx="5906146" cy="726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бюджеті, вчасно, </a:t>
            </a:r>
            <a:r>
              <a:rPr lang="en-US" sz="2400" dirty="0" err="1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вся</a:t>
            </a: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uk-UA" sz="2400" dirty="0" smtClean="0">
              <a:solidFill>
                <a:srgbClr val="2C2926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2400" dirty="0" err="1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функціональність</a:t>
            </a:r>
            <a:r>
              <a:rPr lang="en-US" sz="240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реалізована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1635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FF0000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Причини невдач проектів</a:t>
            </a:r>
            <a:endParaRPr lang="en-US" sz="3450" dirty="0">
              <a:solidFill>
                <a:srgbClr val="FF000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661475" y="1427559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7900" y="1460798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1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1226214" y="1488380"/>
            <a:ext cx="1030400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Нереалістичні тимчасові рамки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26214" y="1864916"/>
            <a:ext cx="1030400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Складність оцінки часу та недостатній облік ризиків.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61475" y="2471738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7900" y="2504976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2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1226214" y="2532559"/>
            <a:ext cx="1030400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Недостатня кількість виконавців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26214" y="2909094"/>
            <a:ext cx="1030400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Переоцінка можливостей або недооцінка складності завдання.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61475" y="3515916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7900" y="3549154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3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1226214" y="3576737"/>
            <a:ext cx="1030400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Розмиті межі проекту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26214" y="3953272"/>
            <a:ext cx="1030400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Нечітко сформульовані вимоги, що змінюються в ході розробки.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61475" y="4560094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7900" y="4593332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4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1226214" y="4620915"/>
            <a:ext cx="1030400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Недостатність засобів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26214" y="4997450"/>
            <a:ext cx="1030400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Надмірний оптимізм або демпінг при плануванні бюджету.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61475" y="5604272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7900" y="5637510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5</a:t>
            </a:r>
            <a:endParaRPr lang="en-US" sz="2050" dirty="0"/>
          </a:p>
        </p:txBody>
      </p:sp>
      <p:sp>
        <p:nvSpPr>
          <p:cNvPr id="21" name="Text 19"/>
          <p:cNvSpPr/>
          <p:nvPr/>
        </p:nvSpPr>
        <p:spPr>
          <a:xfrm>
            <a:off x="1226214" y="5665093"/>
            <a:ext cx="1030400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Недостатність кваліфікованих кадрів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26214" y="6041628"/>
            <a:ext cx="1030400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Швидкий розвиток технологій та зростаючий попит на фахівців.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9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Підхід CDIO та </a:t>
            </a:r>
            <a:r>
              <a:rPr lang="en-US" sz="3000" dirty="0" err="1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процеси</a:t>
            </a:r>
            <a:r>
              <a:rPr lang="en-US" sz="30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</a:t>
            </a:r>
            <a:r>
              <a:rPr lang="en-US" sz="3000" dirty="0" err="1" smtClean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проектування</a:t>
            </a:r>
            <a:endParaRPr lang="uk-UA" sz="3000" dirty="0" smtClean="0">
              <a:solidFill>
                <a:srgbClr val="2C2926"/>
              </a:solidFill>
              <a:latin typeface="Bricolage Grotesque SemiBold" pitchFamily="34" charset="0"/>
              <a:ea typeface="Bricolage Grotesque SemiBold" pitchFamily="34" charset="-122"/>
              <a:cs typeface="Bricolage Grotesque SemiBold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endParaRPr lang="uk-UA" sz="3000" dirty="0" smtClean="0">
              <a:solidFill>
                <a:srgbClr val="2C2926"/>
              </a:solidFill>
              <a:latin typeface="Bricolage Grotesque SemiBold" pitchFamily="34" charset="0"/>
              <a:ea typeface="Bricolage Grotesque SemiBold" pitchFamily="34" charset="-122"/>
              <a:cs typeface="Bricolage Grotesque SemiBold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endParaRPr lang="uk-UA" sz="3000" dirty="0">
              <a:solidFill>
                <a:srgbClr val="2C2926"/>
              </a:solidFill>
            </a:endParaRPr>
          </a:p>
          <a:p>
            <a:pPr marL="0" indent="0" algn="l">
              <a:lnSpc>
                <a:spcPct val="104000"/>
              </a:lnSpc>
              <a:buNone/>
            </a:pP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63755" y="1249263"/>
            <a:ext cx="9547844" cy="45062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4851" y="4324076"/>
            <a:ext cx="1400785" cy="304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Управління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5307941" y="4243526"/>
            <a:ext cx="2434150" cy="455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Реалізація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07941" y="2165766"/>
            <a:ext cx="2434150" cy="304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Проект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94852" y="2317904"/>
            <a:ext cx="1400784" cy="304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Концепція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895776"/>
            <a:ext cx="10868745" cy="757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 концепцією </a:t>
            </a:r>
            <a:r>
              <a:rPr lang="en-US" sz="120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CDIO</a:t>
            </a: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студенти реалізують усі етапи ЖЦ проекту, виконуючи різні ролі. Проектування у програмній інженерії включає: опис вимог → </a:t>
            </a:r>
            <a:r>
              <a:rPr lang="en-US" sz="16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специфікації</a:t>
            </a:r>
            <a:r>
              <a:rPr lang="en-US" sz="12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проектування → конструювання → тестування та оцінка якості.</a:t>
            </a:r>
            <a:endParaRPr lang="en-US" sz="12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7208667" y="958751"/>
            <a:ext cx="470516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CDIO - це міжнародна освітня ініціатива, яка поєднує теорію і практику в інженерній освіті. Абревіатура CDIO розшифровується як чотири етапи життєвого циклу будь-якого продукту, системи або процесу: </a:t>
            </a:r>
            <a:r>
              <a:rPr lang="uk-UA" dirty="0" err="1"/>
              <a:t>Conceive</a:t>
            </a:r>
            <a:r>
              <a:rPr lang="uk-UA" dirty="0"/>
              <a:t> (Плануй / Вигадуй) - визначення потреб ринку, створення концепції та формулювання ідеї майбутнього пристрою. </a:t>
            </a:r>
            <a:r>
              <a:rPr lang="en-US" dirty="0"/>
              <a:t>Design (</a:t>
            </a:r>
            <a:r>
              <a:rPr lang="uk-UA" dirty="0" smtClean="0"/>
              <a:t>Проектуй </a:t>
            </a:r>
            <a:r>
              <a:rPr lang="uk-UA" dirty="0"/>
              <a:t>/ </a:t>
            </a:r>
            <a:r>
              <a:rPr lang="uk-UA" dirty="0" smtClean="0"/>
              <a:t>Розроблюй) </a:t>
            </a:r>
            <a:r>
              <a:rPr lang="uk-UA" dirty="0"/>
              <a:t>— плану, креслень, архітектури та специфікацій. </a:t>
            </a:r>
            <a:r>
              <a:rPr lang="uk-UA" dirty="0" err="1"/>
              <a:t>Implement</a:t>
            </a:r>
            <a:r>
              <a:rPr lang="uk-UA" dirty="0"/>
              <a:t> (Реалізуй / Впроваджуй) – безпосереднє створення продукту, складання, написання коду або запуск процесу. </a:t>
            </a:r>
            <a:r>
              <a:rPr lang="uk-UA" dirty="0" err="1"/>
              <a:t>Operate</a:t>
            </a:r>
            <a:r>
              <a:rPr lang="uk-UA" dirty="0"/>
              <a:t> (Керування / Експлуатування) – застосування продукту за призначенням, його підтримка, модернізація та утилізація.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625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Вимоги до звіту та контрольні питання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2938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Звіт має містити: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213670"/>
            <a:ext cx="5203794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Номер і назву практичної роботи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Прізвище та номер групи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Назву проекту, мету, предметну область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Два блоки визначень (пп. 1, 2 завдання)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791645"/>
            <a:ext cx="5203794" cy="1247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Формат файлу:</a:t>
            </a: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IPZ</a:t>
            </a:r>
            <a:r>
              <a:rPr lang="en-US" sz="145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</a:t>
            </a:r>
            <a:r>
              <a:rPr lang="en-US" sz="1450" dirty="0" err="1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група</a:t>
            </a:r>
            <a:r>
              <a:rPr lang="en-US" sz="145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&gt;P&lt;</a:t>
            </a:r>
            <a:r>
              <a:rPr lang="en-US" sz="1450" dirty="0" err="1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Прізвище</a:t>
            </a: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&gt;.doc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Строк:</a:t>
            </a: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10.09.2026(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Email:</a:t>
            </a: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t.i.lumpova@gmail.com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172938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Контрольні питання: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32776" y="2213670"/>
            <a:ext cx="5203794" cy="2513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Області знань SWEBOK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Базові поняття SWEBOK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Цілі проектування ПЗ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Стандарти SWEBOK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Міжнародний стандарт ЖЦ (ISO/IEC 12207)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6"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Найнеобхідніші розділи при розробці ПС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7"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Різниця ПЗ і програмного продукту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32776" y="4939705"/>
            <a:ext cx="5203794" cy="1039416"/>
          </a:xfrm>
          <a:prstGeom prst="roundRect">
            <a:avLst>
              <a:gd name="adj" fmla="val 7638"/>
            </a:avLst>
          </a:prstGeom>
          <a:solidFill>
            <a:srgbClr val="F8ECD3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783" y="5226447"/>
            <a:ext cx="236234" cy="1890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47024" y="5156994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копіюйте — викладіть власну точку зору. Роботи-близнюки зараховуються першому.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659</Words>
  <Application>Microsoft Office PowerPoint</Application>
  <PresentationFormat>Широкоэкранный</PresentationFormat>
  <Paragraphs>105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Calibri</vt:lpstr>
      <vt:lpstr>Bricolage Grotesque SemiBold</vt:lpstr>
      <vt:lpstr>Inter</vt:lpstr>
      <vt:lpstr>Arial</vt:lpstr>
      <vt:lpstr>Inter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Tanya</cp:lastModifiedBy>
  <cp:revision>7</cp:revision>
  <dcterms:created xsi:type="dcterms:W3CDTF">2026-09-02T11:06:08Z</dcterms:created>
  <dcterms:modified xsi:type="dcterms:W3CDTF">2026-09-02T11:58:19Z</dcterms:modified>
</cp:coreProperties>
</file>